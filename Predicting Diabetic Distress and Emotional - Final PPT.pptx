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4"/>
  </p:notesMasterIdLst>
  <p:sldIdLst>
    <p:sldId id="256" r:id="rId2"/>
    <p:sldId id="267" r:id="rId3"/>
    <p:sldId id="296" r:id="rId4"/>
    <p:sldId id="259" r:id="rId5"/>
    <p:sldId id="260" r:id="rId6"/>
    <p:sldId id="261" r:id="rId7"/>
    <p:sldId id="262" r:id="rId8"/>
    <p:sldId id="266" r:id="rId9"/>
    <p:sldId id="264" r:id="rId10"/>
    <p:sldId id="269" r:id="rId11"/>
    <p:sldId id="270" r:id="rId12"/>
    <p:sldId id="271" r:id="rId13"/>
    <p:sldId id="272" r:id="rId14"/>
    <p:sldId id="273" r:id="rId15"/>
    <p:sldId id="292" r:id="rId16"/>
    <p:sldId id="295" r:id="rId17"/>
    <p:sldId id="297" r:id="rId18"/>
    <p:sldId id="298" r:id="rId19"/>
    <p:sldId id="299" r:id="rId20"/>
    <p:sldId id="316" r:id="rId21"/>
    <p:sldId id="317" r:id="rId22"/>
    <p:sldId id="318" r:id="rId23"/>
    <p:sldId id="302" r:id="rId24"/>
    <p:sldId id="303" r:id="rId25"/>
    <p:sldId id="304" r:id="rId26"/>
    <p:sldId id="305" r:id="rId27"/>
    <p:sldId id="311" r:id="rId28"/>
    <p:sldId id="312" r:id="rId29"/>
    <p:sldId id="313" r:id="rId30"/>
    <p:sldId id="314" r:id="rId31"/>
    <p:sldId id="315" r:id="rId32"/>
    <p:sldId id="265"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6DE04A-298B-45A2-BEA3-7226AED24443}" type="datetimeFigureOut">
              <a:rPr lang="en-US" smtClean="0"/>
              <a:pPr/>
              <a:t>4/24/2026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51A071-B190-4410-9BDA-B6331FBE78E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4/24/2026</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4/24/2026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4/24/2026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4/24/2026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4/24/2026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4/24/2026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4/24/2026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4/24/2026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4/24/2026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4/24/2026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4/24/2026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4/24/2026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1905000"/>
            <a:ext cx="7696200" cy="1752600"/>
          </a:xfrm>
        </p:spPr>
        <p:txBody>
          <a:bodyPr>
            <a:noAutofit/>
          </a:bodyPr>
          <a:lstStyle/>
          <a:p>
            <a:pPr algn="ctr">
              <a:lnSpc>
                <a:spcPct val="150000"/>
              </a:lnSpc>
            </a:pPr>
            <a:r>
              <a:rPr lang="en-US" sz="3000" b="1" dirty="0" smtClean="0">
                <a:effectLst/>
                <a:latin typeface="Times New Roman" pitchFamily="18" charset="0"/>
                <a:cs typeface="Times New Roman" pitchFamily="18" charset="0"/>
              </a:rPr>
              <a:t>PREDICTING DIABETIC DISTRESS AND EMOTIONAL BURDEN IN TYPE-2 DIABETES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0" y="152400"/>
            <a:ext cx="7848600" cy="762000"/>
          </a:xfrm>
        </p:spPr>
        <p:txBody>
          <a:bodyPr>
            <a:normAutofit/>
          </a:bodyPr>
          <a:lstStyle/>
          <a:p>
            <a:pPr algn="ctr"/>
            <a:r>
              <a:rPr lang="en-US" sz="2500" b="1" dirty="0" smtClean="0">
                <a:latin typeface="Times New Roman" pitchFamily="18" charset="0"/>
                <a:cs typeface="Times New Roman" pitchFamily="18" charset="0"/>
              </a:rPr>
              <a:t>ABSTRACT</a:t>
            </a:r>
            <a:endParaRPr lang="en-US" sz="2500" b="1" dirty="0">
              <a:latin typeface="Times New Roman" pitchFamily="18" charset="0"/>
              <a:cs typeface="Times New Roman" pitchFamily="18" charset="0"/>
            </a:endParaRPr>
          </a:p>
        </p:txBody>
      </p:sp>
      <p:sp>
        <p:nvSpPr>
          <p:cNvPr id="2" name="Content Placeholder 1"/>
          <p:cNvSpPr>
            <a:spLocks noGrp="1"/>
          </p:cNvSpPr>
          <p:nvPr>
            <p:ph idx="1"/>
          </p:nvPr>
        </p:nvSpPr>
        <p:spPr>
          <a:xfrm>
            <a:off x="1066800" y="1066800"/>
            <a:ext cx="7848600" cy="5410200"/>
          </a:xfrm>
        </p:spPr>
        <p:txBody>
          <a:bodyPr>
            <a:noAutofit/>
          </a:bodyPr>
          <a:lstStyle/>
          <a:p>
            <a:pPr algn="just">
              <a:lnSpc>
                <a:spcPct val="150000"/>
              </a:lnSpc>
              <a:buFont typeface="Arial" pitchFamily="34" charset="0"/>
              <a:buChar char="•"/>
            </a:pPr>
            <a:r>
              <a:rPr lang="en-US" sz="2000" dirty="0" smtClean="0">
                <a:latin typeface="Times New Roman" pitchFamily="18" charset="0"/>
                <a:cs typeface="Times New Roman" pitchFamily="18" charset="0"/>
              </a:rPr>
              <a:t>Diabetic distress is a significant psychological burden affecting many individuals with Type-2 Diabetes Mellitus. </a:t>
            </a:r>
          </a:p>
          <a:p>
            <a:pPr algn="just">
              <a:lnSpc>
                <a:spcPct val="150000"/>
              </a:lnSpc>
              <a:buFont typeface="Arial" pitchFamily="34" charset="0"/>
              <a:buChar char="•"/>
            </a:pPr>
            <a:r>
              <a:rPr lang="en-US" sz="2000" dirty="0" smtClean="0">
                <a:latin typeface="Times New Roman" pitchFamily="18" charset="0"/>
                <a:cs typeface="Times New Roman" pitchFamily="18" charset="0"/>
              </a:rPr>
              <a:t>The integration of multimodal data sources and machine learning to identify diabetic distress and emotional burden in patients with Type-2 Diabetes Mellitus. </a:t>
            </a:r>
          </a:p>
          <a:p>
            <a:pPr algn="just">
              <a:lnSpc>
                <a:spcPct val="150000"/>
              </a:lnSpc>
              <a:buFont typeface="Arial" pitchFamily="34" charset="0"/>
              <a:buChar char="•"/>
            </a:pPr>
            <a:r>
              <a:rPr lang="en-US" sz="2000" dirty="0" smtClean="0">
                <a:latin typeface="Times New Roman" pitchFamily="18" charset="0"/>
                <a:cs typeface="Times New Roman" pitchFamily="18" charset="0"/>
              </a:rPr>
              <a:t>The study highlights the use of Explainable Artificial Intelligence to make predictions more transparent. </a:t>
            </a:r>
          </a:p>
          <a:p>
            <a:pPr algn="just">
              <a:lnSpc>
                <a:spcPct val="150000"/>
              </a:lnSpc>
              <a:buFont typeface="Arial" pitchFamily="34" charset="0"/>
              <a:buChar char="•"/>
            </a:pPr>
            <a:r>
              <a:rPr lang="en-US" sz="2000" dirty="0" smtClean="0">
                <a:latin typeface="Times New Roman" pitchFamily="18" charset="0"/>
                <a:cs typeface="Times New Roman" pitchFamily="18" charset="0"/>
              </a:rPr>
              <a:t>It combines patient information like age, gender, laboratory results and survey scores to train and compare machine learning methods.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868362"/>
          </a:xfrm>
        </p:spPr>
        <p:txBody>
          <a:bodyPr>
            <a:normAutofit/>
          </a:bodyPr>
          <a:lstStyle/>
          <a:p>
            <a:pPr algn="ctr"/>
            <a:r>
              <a:rPr lang="en-US" sz="2500" b="1" dirty="0" smtClean="0">
                <a:effectLst/>
                <a:latin typeface="Times New Roman" pitchFamily="18" charset="0"/>
                <a:cs typeface="Times New Roman" pitchFamily="18" charset="0"/>
              </a:rPr>
              <a:t>INTRODUCTION</a:t>
            </a:r>
            <a:endParaRPr lang="en-US" sz="2500" b="1" dirty="0">
              <a:effectLst/>
              <a:latin typeface="Times New Roman" pitchFamily="18" charset="0"/>
              <a:cs typeface="Times New Roman" pitchFamily="18" charset="0"/>
            </a:endParaRPr>
          </a:p>
        </p:txBody>
      </p:sp>
      <p:sp>
        <p:nvSpPr>
          <p:cNvPr id="3" name="Content Placeholder 2"/>
          <p:cNvSpPr>
            <a:spLocks noGrp="1"/>
          </p:cNvSpPr>
          <p:nvPr>
            <p:ph idx="1"/>
          </p:nvPr>
        </p:nvSpPr>
        <p:spPr>
          <a:xfrm>
            <a:off x="1435608" y="1143000"/>
            <a:ext cx="7498080" cy="5105400"/>
          </a:xfrm>
        </p:spPr>
        <p:txBody>
          <a:bodyPr>
            <a:normAutofit lnSpcReduction="10000"/>
          </a:bodyPr>
          <a:lstStyle/>
          <a:p>
            <a:pPr algn="just">
              <a:lnSpc>
                <a:spcPct val="150000"/>
              </a:lnSpc>
            </a:pPr>
            <a:r>
              <a:rPr lang="en-US" sz="2000" dirty="0" smtClean="0">
                <a:latin typeface="Times New Roman" pitchFamily="18" charset="0"/>
                <a:cs typeface="Times New Roman" pitchFamily="18" charset="0"/>
              </a:rPr>
              <a:t>Diabetes mellitus is a widespread metabolic condition that affects millions worldwide and demands ongoing medical attention and self-management. </a:t>
            </a:r>
          </a:p>
          <a:p>
            <a:pPr algn="just">
              <a:lnSpc>
                <a:spcPct val="150000"/>
              </a:lnSpc>
            </a:pPr>
            <a:r>
              <a:rPr lang="en-US" sz="2000" dirty="0" smtClean="0">
                <a:latin typeface="Times New Roman" pitchFamily="18" charset="0"/>
                <a:cs typeface="Times New Roman" pitchFamily="18" charset="0"/>
              </a:rPr>
              <a:t>The methodologies employed provide only a superficial understanding of the temporal progression of distress levels and the interplay among behavioral, emotional, and clinical variables that influence distress outcomes. </a:t>
            </a:r>
          </a:p>
          <a:p>
            <a:pPr algn="just">
              <a:lnSpc>
                <a:spcPct val="150000"/>
              </a:lnSpc>
            </a:pPr>
            <a:r>
              <a:rPr lang="en-US" sz="2000" dirty="0" smtClean="0">
                <a:latin typeface="Times New Roman" pitchFamily="18" charset="0"/>
                <a:cs typeface="Times New Roman" pitchFamily="18" charset="0"/>
              </a:rPr>
              <a:t>An Extreme Gradient Boosting model and </a:t>
            </a:r>
            <a:r>
              <a:rPr lang="en-US" sz="2000" dirty="0" err="1" smtClean="0">
                <a:latin typeface="Times New Roman" pitchFamily="18" charset="0"/>
                <a:cs typeface="Times New Roman" pitchFamily="18" charset="0"/>
              </a:rPr>
              <a:t>SHapley</a:t>
            </a:r>
            <a:r>
              <a:rPr lang="en-US" sz="2000" dirty="0" smtClean="0">
                <a:latin typeface="Times New Roman" pitchFamily="18" charset="0"/>
                <a:cs typeface="Times New Roman" pitchFamily="18" charset="0"/>
              </a:rPr>
              <a:t> Additive </a:t>
            </a:r>
            <a:r>
              <a:rPr lang="en-US" sz="2000" dirty="0" err="1" smtClean="0">
                <a:latin typeface="Times New Roman" pitchFamily="18" charset="0"/>
                <a:cs typeface="Times New Roman" pitchFamily="18" charset="0"/>
              </a:rPr>
              <a:t>exPlanations</a:t>
            </a:r>
            <a:r>
              <a:rPr lang="en-US" sz="2000" dirty="0" smtClean="0">
                <a:latin typeface="Times New Roman" pitchFamily="18" charset="0"/>
                <a:cs typeface="Times New Roman" pitchFamily="18" charset="0"/>
              </a:rPr>
              <a:t>, thereby delivering both high predictive performance and transparent, patient-specific insights for early intervention and personalized care in Type-2 diabetes.</a:t>
            </a:r>
            <a:endParaRPr 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457200"/>
            <a:ext cx="7193280" cy="609600"/>
          </a:xfrm>
        </p:spPr>
        <p:txBody>
          <a:bodyPr>
            <a:normAutofit fontScale="90000"/>
          </a:bodyPr>
          <a:lstStyle/>
          <a:p>
            <a:pPr algn="ctr"/>
            <a:r>
              <a:rPr lang="en-US" sz="2500" b="1" dirty="0" smtClean="0">
                <a:effectLst/>
                <a:latin typeface="Times New Roman" pitchFamily="18" charset="0"/>
                <a:cs typeface="Times New Roman" pitchFamily="18" charset="0"/>
              </a:rPr>
              <a:t>EXISTING SYSTEM</a:t>
            </a:r>
            <a:r>
              <a:rPr lang="en-US" sz="2500" b="1" dirty="0" smtClean="0">
                <a:latin typeface="Times New Roman" pitchFamily="18" charset="0"/>
                <a:cs typeface="Times New Roman" pitchFamily="18" charset="0"/>
              </a:rPr>
              <a:t/>
            </a:r>
            <a:br>
              <a:rPr lang="en-US" sz="2500" b="1" dirty="0" smtClean="0">
                <a:latin typeface="Times New Roman" pitchFamily="18" charset="0"/>
                <a:cs typeface="Times New Roman" pitchFamily="18" charset="0"/>
              </a:rPr>
            </a:br>
            <a:endParaRPr lang="en-US" sz="2500" b="1" dirty="0">
              <a:latin typeface="Times New Roman" pitchFamily="18" charset="0"/>
              <a:cs typeface="Times New Roman" pitchFamily="18" charset="0"/>
            </a:endParaRPr>
          </a:p>
        </p:txBody>
      </p:sp>
      <p:sp>
        <p:nvSpPr>
          <p:cNvPr id="3" name="Content Placeholder 2"/>
          <p:cNvSpPr>
            <a:spLocks noGrp="1"/>
          </p:cNvSpPr>
          <p:nvPr>
            <p:ph idx="1"/>
          </p:nvPr>
        </p:nvSpPr>
        <p:spPr>
          <a:xfrm>
            <a:off x="1219200" y="990600"/>
            <a:ext cx="7543800" cy="5486400"/>
          </a:xfrm>
        </p:spPr>
        <p:txBody>
          <a:bodyPr>
            <a:noAutofit/>
          </a:bodyPr>
          <a:lstStyle/>
          <a:p>
            <a:pPr lvl="0" algn="just">
              <a:lnSpc>
                <a:spcPct val="150000"/>
              </a:lnSpc>
              <a:buFont typeface="Arial" pitchFamily="34" charset="0"/>
              <a:buChar char="•"/>
            </a:pPr>
            <a:r>
              <a:rPr lang="en-US" sz="2000" dirty="0" smtClean="0">
                <a:latin typeface="Times New Roman" pitchFamily="18" charset="0"/>
                <a:cs typeface="Times New Roman" pitchFamily="18" charset="0"/>
              </a:rPr>
              <a:t>Existing approaches to identifying diabetic distress have several weaknesses. </a:t>
            </a:r>
          </a:p>
          <a:p>
            <a:pPr algn="just">
              <a:lnSpc>
                <a:spcPct val="150000"/>
              </a:lnSpc>
              <a:buFont typeface="Arial" pitchFamily="34" charset="0"/>
              <a:buChar char="•"/>
            </a:pPr>
            <a:r>
              <a:rPr lang="en-US" sz="2000" dirty="0" smtClean="0">
                <a:latin typeface="Times New Roman" pitchFamily="18" charset="0"/>
                <a:cs typeface="Times New Roman" pitchFamily="18" charset="0"/>
              </a:rPr>
              <a:t>Traditional techniques such as statistical tests and survey responses, but these methods often rely on data collected at a single point in time, involve relatively few participants and may not represent a broader population. </a:t>
            </a:r>
          </a:p>
          <a:p>
            <a:pPr algn="just">
              <a:lnSpc>
                <a:spcPct val="150000"/>
              </a:lnSpc>
              <a:buFont typeface="Arial" pitchFamily="34" charset="0"/>
              <a:buChar char="•"/>
            </a:pPr>
            <a:r>
              <a:rPr lang="en-US" sz="2000" dirty="0" smtClean="0">
                <a:latin typeface="Times New Roman" pitchFamily="18" charset="0"/>
                <a:cs typeface="Times New Roman" pitchFamily="18" charset="0"/>
              </a:rPr>
              <a:t>The methodologies employed provide only a superficial understanding of the temporal progression of distress levels and the interplay among behavioral, emotional and clinical variables that influence distress outcomes.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304800"/>
            <a:ext cx="7345680" cy="838200"/>
          </a:xfrm>
        </p:spPr>
        <p:txBody>
          <a:bodyPr>
            <a:normAutofit fontScale="90000"/>
          </a:bodyPr>
          <a:lstStyle/>
          <a:p>
            <a:pPr algn="ctr"/>
            <a:r>
              <a:rPr lang="en-US" sz="2500" b="1" dirty="0" smtClean="0">
                <a:latin typeface="Times New Roman" pitchFamily="18" charset="0"/>
                <a:cs typeface="Times New Roman" pitchFamily="18" charset="0"/>
              </a:rPr>
              <a:t>DISADVANTAGES</a:t>
            </a:r>
            <a:br>
              <a:rPr lang="en-US" sz="2500" b="1" dirty="0" smtClean="0">
                <a:latin typeface="Times New Roman" pitchFamily="18" charset="0"/>
                <a:cs typeface="Times New Roman" pitchFamily="18" charset="0"/>
              </a:rPr>
            </a:br>
            <a:endParaRPr lang="en-US" sz="2500" b="1" dirty="0">
              <a:latin typeface="Times New Roman" pitchFamily="18" charset="0"/>
              <a:cs typeface="Times New Roman" pitchFamily="18" charset="0"/>
            </a:endParaRPr>
          </a:p>
        </p:txBody>
      </p:sp>
      <p:sp>
        <p:nvSpPr>
          <p:cNvPr id="3" name="Content Placeholder 2"/>
          <p:cNvSpPr>
            <a:spLocks noGrp="1"/>
          </p:cNvSpPr>
          <p:nvPr>
            <p:ph idx="1"/>
          </p:nvPr>
        </p:nvSpPr>
        <p:spPr>
          <a:xfrm>
            <a:off x="1371600" y="1219200"/>
            <a:ext cx="7345680" cy="5257800"/>
          </a:xfrm>
        </p:spPr>
        <p:txBody>
          <a:bodyPr>
            <a:normAutofit lnSpcReduction="10000"/>
          </a:bodyPr>
          <a:lstStyle/>
          <a:p>
            <a:pPr lvl="0" algn="just">
              <a:lnSpc>
                <a:spcPct val="150000"/>
              </a:lnSpc>
            </a:pPr>
            <a:r>
              <a:rPr lang="en-US" sz="2000" dirty="0" smtClean="0">
                <a:latin typeface="Times New Roman" pitchFamily="18" charset="0"/>
                <a:cs typeface="Times New Roman" pitchFamily="18" charset="0"/>
              </a:rPr>
              <a:t>Because tools are limited in identifying at-risk patients, diabetic distress frequently remains undetected and untreated, even though it plays a crucial role in patient well-being and long-term disease management.</a:t>
            </a:r>
          </a:p>
          <a:p>
            <a:pPr lvl="0" algn="just">
              <a:lnSpc>
                <a:spcPct val="150000"/>
              </a:lnSpc>
            </a:pPr>
            <a:r>
              <a:rPr lang="en-US" sz="2000" dirty="0" smtClean="0">
                <a:latin typeface="Times New Roman" pitchFamily="18" charset="0"/>
                <a:cs typeface="Times New Roman" pitchFamily="18" charset="0"/>
              </a:rPr>
              <a:t>Limiting their ability to capture the multifaceted interplay of demographic, clinical and psychological factors in a broader Type-2 diabetic population. </a:t>
            </a:r>
          </a:p>
          <a:p>
            <a:pPr lvl="0" algn="just">
              <a:lnSpc>
                <a:spcPct val="150000"/>
              </a:lnSpc>
            </a:pPr>
            <a:r>
              <a:rPr lang="en-US" sz="2000" dirty="0" smtClean="0">
                <a:latin typeface="Times New Roman" pitchFamily="18" charset="0"/>
                <a:cs typeface="Times New Roman" pitchFamily="18" charset="0"/>
              </a:rPr>
              <a:t>It focuses on either continuous distress scores or categorical severity levels in isolation, leaving clinicians without a unified tool that provides both a quantitative Total DDS Score and an actionable severity category.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04800"/>
            <a:ext cx="7269480" cy="1051560"/>
          </a:xfrm>
        </p:spPr>
        <p:txBody>
          <a:bodyPr>
            <a:normAutofit/>
          </a:bodyPr>
          <a:lstStyle/>
          <a:p>
            <a:pPr algn="ctr"/>
            <a:r>
              <a:rPr lang="en-US" sz="2500" b="1" dirty="0" smtClean="0">
                <a:effectLst/>
                <a:latin typeface="Times New Roman" pitchFamily="18" charset="0"/>
                <a:cs typeface="Times New Roman" pitchFamily="18" charset="0"/>
              </a:rPr>
              <a:t>PROPOSED SYSTEM</a:t>
            </a:r>
            <a:br>
              <a:rPr lang="en-US" sz="2500" b="1" dirty="0" smtClean="0">
                <a:effectLst/>
                <a:latin typeface="Times New Roman" pitchFamily="18" charset="0"/>
                <a:cs typeface="Times New Roman" pitchFamily="18" charset="0"/>
              </a:rPr>
            </a:br>
            <a:endParaRPr lang="en-US" sz="2500" b="1" dirty="0">
              <a:effectLst/>
              <a:latin typeface="Times New Roman" pitchFamily="18" charset="0"/>
              <a:cs typeface="Times New Roman" pitchFamily="18" charset="0"/>
            </a:endParaRPr>
          </a:p>
        </p:txBody>
      </p:sp>
      <p:sp>
        <p:nvSpPr>
          <p:cNvPr id="3" name="Content Placeholder 2"/>
          <p:cNvSpPr>
            <a:spLocks noGrp="1"/>
          </p:cNvSpPr>
          <p:nvPr>
            <p:ph idx="1"/>
          </p:nvPr>
        </p:nvSpPr>
        <p:spPr>
          <a:xfrm>
            <a:off x="1219200" y="1219200"/>
            <a:ext cx="7498080" cy="5410200"/>
          </a:xfrm>
        </p:spPr>
        <p:txBody>
          <a:bodyPr>
            <a:noAutofit/>
          </a:bodyPr>
          <a:lstStyle/>
          <a:p>
            <a:pPr algn="just">
              <a:lnSpc>
                <a:spcPct val="150000"/>
              </a:lnSpc>
              <a:buFont typeface="Arial" pitchFamily="34" charset="0"/>
              <a:buChar char="•"/>
            </a:pPr>
            <a:r>
              <a:rPr lang="en-US" sz="2000" dirty="0" smtClean="0">
                <a:latin typeface="Times New Roman" pitchFamily="18" charset="0"/>
                <a:cs typeface="Times New Roman" pitchFamily="18" charset="0"/>
              </a:rPr>
              <a:t>Propose XAI enables healthcare practitioners to develop interventions that suit the unique circumstances of each patient.</a:t>
            </a:r>
          </a:p>
          <a:p>
            <a:pPr algn="just">
              <a:lnSpc>
                <a:spcPct val="150000"/>
              </a:lnSpc>
              <a:buFont typeface="Arial" pitchFamily="34" charset="0"/>
              <a:buChar char="•"/>
            </a:pPr>
            <a:r>
              <a:rPr lang="en-US" sz="2000" dirty="0" smtClean="0">
                <a:latin typeface="Times New Roman" pitchFamily="18" charset="0"/>
                <a:cs typeface="Times New Roman" pitchFamily="18" charset="0"/>
              </a:rPr>
              <a:t>An appropriate machine learning system that precisely detects distress levels and severity among Type-2 diabetic patients.</a:t>
            </a:r>
          </a:p>
          <a:p>
            <a:pPr algn="just">
              <a:lnSpc>
                <a:spcPct val="150000"/>
              </a:lnSpc>
              <a:buFont typeface="Arial" pitchFamily="34" charset="0"/>
              <a:buChar char="•"/>
            </a:pPr>
            <a:r>
              <a:rPr lang="en-US" sz="2000" dirty="0" smtClean="0">
                <a:latin typeface="Times New Roman" pitchFamily="18" charset="0"/>
                <a:cs typeface="Times New Roman" pitchFamily="18" charset="0"/>
              </a:rPr>
              <a:t>The system draws upon a variety of types of data, including demographic, clinical and psychological data, to incorporate numerous factors affecting distress. </a:t>
            </a:r>
          </a:p>
          <a:p>
            <a:pPr algn="just">
              <a:lnSpc>
                <a:spcPct val="150000"/>
              </a:lnSpc>
              <a:buFont typeface="Arial" pitchFamily="34" charset="0"/>
              <a:buChar char="•"/>
            </a:pPr>
            <a:r>
              <a:rPr lang="en-US" sz="2000" dirty="0" smtClean="0">
                <a:latin typeface="Times New Roman" pitchFamily="18" charset="0"/>
                <a:cs typeface="Times New Roman" pitchFamily="18" charset="0"/>
              </a:rPr>
              <a:t>This could help doctors identify distress early on and adjust their treatments to meet individual needs.</a:t>
            </a:r>
          </a:p>
          <a:p>
            <a:pPr algn="just">
              <a:lnSpc>
                <a:spcPct val="150000"/>
              </a:lnSpc>
              <a:buFont typeface="Arial" pitchFamily="34" charset="0"/>
              <a:buChar char="•"/>
            </a:pPr>
            <a:endParaRPr lang="en-GB"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457200"/>
            <a:ext cx="7193280" cy="1051560"/>
          </a:xfrm>
        </p:spPr>
        <p:txBody>
          <a:bodyPr>
            <a:normAutofit/>
          </a:bodyPr>
          <a:lstStyle/>
          <a:p>
            <a:pPr algn="ctr"/>
            <a:r>
              <a:rPr lang="en-US" sz="2500" b="1" dirty="0" smtClean="0">
                <a:effectLst/>
                <a:latin typeface="Times New Roman" pitchFamily="18" charset="0"/>
                <a:cs typeface="Times New Roman" pitchFamily="18" charset="0"/>
              </a:rPr>
              <a:t>ADVANTAGES</a:t>
            </a:r>
            <a:br>
              <a:rPr lang="en-US" sz="2500" b="1" dirty="0" smtClean="0">
                <a:effectLst/>
                <a:latin typeface="Times New Roman" pitchFamily="18" charset="0"/>
                <a:cs typeface="Times New Roman" pitchFamily="18" charset="0"/>
              </a:rPr>
            </a:br>
            <a:endParaRPr lang="en-US" sz="2500" b="1" dirty="0">
              <a:effectLst/>
              <a:latin typeface="Times New Roman" pitchFamily="18" charset="0"/>
              <a:cs typeface="Times New Roman" pitchFamily="18" charset="0"/>
            </a:endParaRPr>
          </a:p>
        </p:txBody>
      </p:sp>
      <p:sp>
        <p:nvSpPr>
          <p:cNvPr id="3" name="Content Placeholder 2"/>
          <p:cNvSpPr>
            <a:spLocks noGrp="1"/>
          </p:cNvSpPr>
          <p:nvPr>
            <p:ph idx="1"/>
          </p:nvPr>
        </p:nvSpPr>
        <p:spPr>
          <a:xfrm>
            <a:off x="1219200" y="1143000"/>
            <a:ext cx="7620000" cy="5410200"/>
          </a:xfrm>
        </p:spPr>
        <p:txBody>
          <a:bodyPr>
            <a:noAutofit/>
          </a:bodyPr>
          <a:lstStyle/>
          <a:p>
            <a:pPr lvl="0" algn="just">
              <a:lnSpc>
                <a:spcPct val="150000"/>
              </a:lnSpc>
            </a:pPr>
            <a:r>
              <a:rPr lang="en-US" sz="2000" dirty="0" smtClean="0">
                <a:latin typeface="Times New Roman" pitchFamily="18" charset="0"/>
                <a:cs typeface="Times New Roman" pitchFamily="18" charset="0"/>
              </a:rPr>
              <a:t>Assess the performance of various machine learning algorithms using robust metrics that emphasize both predictive accuracy and clinical usefulness.</a:t>
            </a:r>
          </a:p>
          <a:p>
            <a:pPr lvl="0" algn="just">
              <a:lnSpc>
                <a:spcPct val="150000"/>
              </a:lnSpc>
            </a:pPr>
            <a:r>
              <a:rPr lang="en-US" sz="2000" dirty="0" smtClean="0">
                <a:latin typeface="Times New Roman" pitchFamily="18" charset="0"/>
                <a:cs typeface="Times New Roman" pitchFamily="18" charset="0"/>
              </a:rPr>
              <a:t>A strong machine learning system that can recognize levels of distress in diabetes and sort them by severity using both regression and classification methods.</a:t>
            </a:r>
          </a:p>
          <a:p>
            <a:pPr lvl="0" algn="just">
              <a:lnSpc>
                <a:spcPct val="150000"/>
              </a:lnSpc>
            </a:pPr>
            <a:r>
              <a:rPr lang="en-US" sz="2000" dirty="0" smtClean="0">
                <a:latin typeface="Times New Roman" pitchFamily="18" charset="0"/>
                <a:cs typeface="Times New Roman" pitchFamily="18" charset="0"/>
              </a:rPr>
              <a:t>It also assists healthcare providers in assessing risk severity in patients, initiating timely care and delivering personalized interventions with confidence.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04800"/>
            <a:ext cx="7269480" cy="762000"/>
          </a:xfrm>
        </p:spPr>
        <p:txBody>
          <a:bodyPr>
            <a:normAutofit/>
          </a:bodyPr>
          <a:lstStyle/>
          <a:p>
            <a:r>
              <a:rPr lang="en-US" sz="2500" b="1" dirty="0" smtClean="0">
                <a:effectLst/>
                <a:latin typeface="Times New Roman" pitchFamily="18" charset="0"/>
                <a:cs typeface="Times New Roman" pitchFamily="18" charset="0"/>
              </a:rPr>
              <a:t>SOFTWARE SPECIFICATION</a:t>
            </a:r>
            <a:endParaRPr lang="en-US" sz="2500" b="1" dirty="0">
              <a:latin typeface="Times New Roman" pitchFamily="18" charset="0"/>
              <a:cs typeface="Times New Roman" pitchFamily="18" charset="0"/>
            </a:endParaRPr>
          </a:p>
        </p:txBody>
      </p:sp>
      <p:sp>
        <p:nvSpPr>
          <p:cNvPr id="3" name="Content Placeholder 2"/>
          <p:cNvSpPr>
            <a:spLocks noGrp="1"/>
          </p:cNvSpPr>
          <p:nvPr>
            <p:ph idx="1"/>
          </p:nvPr>
        </p:nvSpPr>
        <p:spPr>
          <a:xfrm>
            <a:off x="1447800" y="1600200"/>
            <a:ext cx="7193280" cy="4724400"/>
          </a:xfrm>
        </p:spPr>
        <p:txBody>
          <a:bodyPr>
            <a:noAutofit/>
          </a:bodyPr>
          <a:lstStyle/>
          <a:p>
            <a:pPr algn="just">
              <a:lnSpc>
                <a:spcPct val="150000"/>
              </a:lnSpc>
              <a:buNone/>
            </a:pPr>
            <a:r>
              <a:rPr lang="en-US" sz="2000" b="1" dirty="0" smtClean="0">
                <a:latin typeface="Times New Roman" pitchFamily="18" charset="0"/>
                <a:cs typeface="Times New Roman" pitchFamily="18" charset="0"/>
              </a:rPr>
              <a:t>HARDWARE REQUIREMENTS</a:t>
            </a:r>
            <a:r>
              <a:rPr lang="en-US" sz="2000" dirty="0" smtClean="0">
                <a:latin typeface="Times New Roman" pitchFamily="18" charset="0"/>
                <a:cs typeface="Times New Roman" pitchFamily="18" charset="0"/>
              </a:rPr>
              <a:t>:</a:t>
            </a:r>
          </a:p>
          <a:p>
            <a:pPr algn="just">
              <a:lnSpc>
                <a:spcPct val="150000"/>
              </a:lnSpc>
              <a:buFont typeface="Arial" pitchFamily="34" charset="0"/>
              <a:buChar char="•"/>
            </a:pPr>
            <a:r>
              <a:rPr lang="en-US" sz="2000" dirty="0" smtClean="0">
                <a:latin typeface="Times New Roman" pitchFamily="18" charset="0"/>
                <a:cs typeface="Times New Roman" pitchFamily="18" charset="0"/>
              </a:rPr>
              <a:t>System		: 	Pentium IV 2.4 GHz.</a:t>
            </a:r>
          </a:p>
          <a:p>
            <a:pPr algn="just">
              <a:lnSpc>
                <a:spcPct val="150000"/>
              </a:lnSpc>
              <a:buFont typeface="Arial" pitchFamily="34" charset="0"/>
              <a:buChar char="•"/>
            </a:pPr>
            <a:r>
              <a:rPr lang="en-US" sz="2000" dirty="0" smtClean="0">
                <a:latin typeface="Times New Roman" pitchFamily="18" charset="0"/>
                <a:cs typeface="Times New Roman" pitchFamily="18" charset="0"/>
              </a:rPr>
              <a:t>Hard Disk        	: 	500 GB.</a:t>
            </a:r>
          </a:p>
          <a:p>
            <a:pPr algn="just">
              <a:lnSpc>
                <a:spcPct val="150000"/>
              </a:lnSpc>
              <a:buFont typeface="Arial" pitchFamily="34" charset="0"/>
              <a:buChar char="•"/>
            </a:pPr>
            <a:r>
              <a:rPr lang="en-US" sz="2000" dirty="0" smtClean="0">
                <a:latin typeface="Times New Roman" pitchFamily="18" charset="0"/>
                <a:cs typeface="Times New Roman" pitchFamily="18" charset="0"/>
              </a:rPr>
              <a:t>Monitor		: 	15 VGA Color.</a:t>
            </a:r>
          </a:p>
          <a:p>
            <a:pPr algn="just">
              <a:lnSpc>
                <a:spcPct val="150000"/>
              </a:lnSpc>
              <a:buFont typeface="Arial" pitchFamily="34" charset="0"/>
              <a:buChar char="•"/>
            </a:pPr>
            <a:r>
              <a:rPr lang="en-US" sz="2000" dirty="0" smtClean="0">
                <a:latin typeface="Times New Roman" pitchFamily="18" charset="0"/>
                <a:cs typeface="Times New Roman" pitchFamily="18" charset="0"/>
              </a:rPr>
              <a:t>Mouse		: 	Logitech.</a:t>
            </a:r>
          </a:p>
          <a:p>
            <a:pPr algn="just">
              <a:lnSpc>
                <a:spcPct val="150000"/>
              </a:lnSpc>
              <a:buFont typeface="Arial" pitchFamily="34" charset="0"/>
              <a:buChar char="•"/>
            </a:pPr>
            <a:r>
              <a:rPr lang="en-US" sz="2000" dirty="0" smtClean="0">
                <a:latin typeface="Times New Roman" pitchFamily="18" charset="0"/>
                <a:cs typeface="Times New Roman" pitchFamily="18" charset="0"/>
              </a:rPr>
              <a:t>RAM		: 	4 GB.</a:t>
            </a:r>
          </a:p>
          <a:p>
            <a:pPr algn="just">
              <a:lnSpc>
                <a:spcPct val="150000"/>
              </a:lnSpc>
              <a:buNone/>
            </a:pPr>
            <a:endParaRPr lang="en-US"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685800"/>
            <a:ext cx="7421880" cy="5486400"/>
          </a:xfrm>
        </p:spPr>
        <p:txBody>
          <a:bodyPr>
            <a:normAutofit/>
          </a:bodyPr>
          <a:lstStyle/>
          <a:p>
            <a:pPr>
              <a:lnSpc>
                <a:spcPct val="150000"/>
              </a:lnSpc>
              <a:buNone/>
            </a:pPr>
            <a:r>
              <a:rPr lang="en-US" sz="2000" b="1" dirty="0" smtClean="0">
                <a:latin typeface="Times New Roman" pitchFamily="18" charset="0"/>
                <a:cs typeface="Times New Roman" pitchFamily="18" charset="0"/>
              </a:rPr>
              <a:t>SOFTWARE REQUIREMENTS</a:t>
            </a:r>
            <a:r>
              <a:rPr lang="en-US" sz="2000" dirty="0" smtClean="0">
                <a:latin typeface="Times New Roman" pitchFamily="18" charset="0"/>
                <a:cs typeface="Times New Roman" pitchFamily="18" charset="0"/>
              </a:rPr>
              <a:t>: </a:t>
            </a:r>
          </a:p>
          <a:p>
            <a:pPr>
              <a:lnSpc>
                <a:spcPct val="150000"/>
              </a:lnSpc>
              <a:buFont typeface="Arial" pitchFamily="34" charset="0"/>
              <a:buChar char="•"/>
            </a:pPr>
            <a:r>
              <a:rPr lang="en-GB" sz="2000" dirty="0" smtClean="0">
                <a:latin typeface="Times New Roman" pitchFamily="18" charset="0"/>
                <a:cs typeface="Times New Roman" pitchFamily="18" charset="0"/>
              </a:rPr>
              <a:t>Operating System	: 	Windows-10/11 (64-bit).</a:t>
            </a:r>
          </a:p>
          <a:p>
            <a:pPr>
              <a:lnSpc>
                <a:spcPct val="150000"/>
              </a:lnSpc>
              <a:buFont typeface="Arial" pitchFamily="34" charset="0"/>
              <a:buChar char="•"/>
            </a:pPr>
            <a:r>
              <a:rPr lang="en-GB" sz="2000" dirty="0" smtClean="0">
                <a:latin typeface="Times New Roman" pitchFamily="18" charset="0"/>
                <a:cs typeface="Times New Roman" pitchFamily="18" charset="0"/>
              </a:rPr>
              <a:t>Frontend		: 	</a:t>
            </a:r>
            <a:r>
              <a:rPr lang="en-US" sz="2000" dirty="0" smtClean="0">
                <a:latin typeface="Times New Roman" pitchFamily="18" charset="0"/>
                <a:cs typeface="Times New Roman" pitchFamily="18" charset="0"/>
              </a:rPr>
              <a:t>HTML 5 and Bootstrap 4.5</a:t>
            </a:r>
          </a:p>
          <a:p>
            <a:pPr>
              <a:lnSpc>
                <a:spcPct val="150000"/>
              </a:lnSpc>
              <a:buFont typeface="Arial" pitchFamily="34" charset="0"/>
              <a:buChar char="•"/>
            </a:pPr>
            <a:r>
              <a:rPr lang="en-GB" sz="2000" dirty="0" smtClean="0">
                <a:latin typeface="Times New Roman" pitchFamily="18" charset="0"/>
                <a:cs typeface="Times New Roman" pitchFamily="18" charset="0"/>
              </a:rPr>
              <a:t>Backend		:	Python 3.10 (64-bit)</a:t>
            </a:r>
          </a:p>
          <a:p>
            <a:pPr>
              <a:lnSpc>
                <a:spcPct val="150000"/>
              </a:lnSpc>
              <a:buFont typeface="Arial" pitchFamily="34" charset="0"/>
              <a:buChar char="•"/>
            </a:pPr>
            <a:r>
              <a:rPr lang="en-GB" sz="2000" dirty="0" smtClean="0">
                <a:latin typeface="Times New Roman" pitchFamily="18" charset="0"/>
                <a:cs typeface="Times New Roman" pitchFamily="18" charset="0"/>
              </a:rPr>
              <a:t>Web-Framework	:	Flask 3.5</a:t>
            </a:r>
          </a:p>
          <a:p>
            <a:pPr lvl="0">
              <a:lnSpc>
                <a:spcPct val="150000"/>
              </a:lnSpc>
              <a:buFont typeface="Arial" pitchFamily="34" charset="0"/>
              <a:buChar char="•"/>
            </a:pPr>
            <a:r>
              <a:rPr lang="en-GB" sz="2000" dirty="0" smtClean="0">
                <a:latin typeface="Times New Roman" pitchFamily="18" charset="0"/>
                <a:cs typeface="Times New Roman" pitchFamily="18" charset="0"/>
              </a:rPr>
              <a:t>Dataset		:	Pima Indian Diabetes Dataset</a:t>
            </a:r>
          </a:p>
          <a:p>
            <a:pPr>
              <a:lnSpc>
                <a:spcPct val="150000"/>
              </a:lnSpc>
              <a:buFont typeface="Arial" pitchFamily="34" charset="0"/>
              <a:buChar char="•"/>
            </a:pPr>
            <a:r>
              <a:rPr lang="en-GB" sz="2000" dirty="0" smtClean="0">
                <a:latin typeface="Times New Roman" pitchFamily="18" charset="0"/>
                <a:cs typeface="Times New Roman" pitchFamily="18" charset="0"/>
              </a:rPr>
              <a:t>IDE Tools		:	Visual Studio Code 1.8</a:t>
            </a:r>
          </a:p>
          <a:p>
            <a:pPr>
              <a:lnSpc>
                <a:spcPct val="150000"/>
              </a:lnSpc>
              <a:buFont typeface="Arial" pitchFamily="34" charset="0"/>
              <a:buChar char="•"/>
            </a:pPr>
            <a:endParaRPr lang="en-GB" sz="2000" dirty="0" smtClean="0">
              <a:latin typeface="Times New Roman" pitchFamily="18" charset="0"/>
              <a:cs typeface="Times New Roman" pitchFamily="18" charset="0"/>
            </a:endParaRPr>
          </a:p>
          <a:p>
            <a:pPr>
              <a:lnSpc>
                <a:spcPct val="150000"/>
              </a:lnSpc>
              <a:buNone/>
            </a:pPr>
            <a:endParaRPr lang="en-US" sz="2000" dirty="0" smtClean="0">
              <a:latin typeface="Times New Roman" pitchFamily="18" charset="0"/>
              <a:cs typeface="Times New Roman" pitchFamily="18" charset="0"/>
            </a:endParaRPr>
          </a:p>
          <a:p>
            <a:pPr>
              <a:lnSpc>
                <a:spcPct val="150000"/>
              </a:lnSpc>
              <a:buNone/>
            </a:pPr>
            <a:r>
              <a:rPr lang="en-US" sz="2000" dirty="0" smtClean="0">
                <a:latin typeface="Times New Roman" pitchFamily="18" charset="0"/>
                <a:cs typeface="Times New Roman" pitchFamily="18" charset="0"/>
              </a:rPr>
              <a:t> </a:t>
            </a:r>
          </a:p>
          <a:p>
            <a:pPr>
              <a:lnSpc>
                <a:spcPct val="150000"/>
              </a:lnSpc>
            </a:pP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500" b="1" dirty="0" smtClean="0">
                <a:latin typeface="Times New Roman" pitchFamily="18" charset="0"/>
                <a:cs typeface="Times New Roman" pitchFamily="18" charset="0"/>
              </a:rPr>
              <a:t>MODULES</a:t>
            </a:r>
            <a:endParaRPr lang="en-US" sz="25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lvl="0">
              <a:lnSpc>
                <a:spcPct val="150000"/>
              </a:lnSpc>
            </a:pPr>
            <a:r>
              <a:rPr lang="en-US" sz="2000" dirty="0" smtClean="0">
                <a:latin typeface="Times New Roman" pitchFamily="18" charset="0"/>
                <a:cs typeface="Times New Roman" pitchFamily="18" charset="0"/>
              </a:rPr>
              <a:t>Dataset Collection Module</a:t>
            </a:r>
          </a:p>
          <a:p>
            <a:pPr lvl="0">
              <a:lnSpc>
                <a:spcPct val="150000"/>
              </a:lnSpc>
            </a:pPr>
            <a:r>
              <a:rPr lang="en-US" sz="2000" dirty="0" smtClean="0">
                <a:latin typeface="Times New Roman" pitchFamily="18" charset="0"/>
                <a:cs typeface="Times New Roman" pitchFamily="18" charset="0"/>
              </a:rPr>
              <a:t>Exploratory Data Analysis (EDA) Module</a:t>
            </a:r>
          </a:p>
          <a:p>
            <a:pPr lvl="0">
              <a:lnSpc>
                <a:spcPct val="150000"/>
              </a:lnSpc>
            </a:pPr>
            <a:r>
              <a:rPr lang="en-US" sz="2000" dirty="0" smtClean="0">
                <a:latin typeface="Times New Roman" pitchFamily="18" charset="0"/>
                <a:cs typeface="Times New Roman" pitchFamily="18" charset="0"/>
              </a:rPr>
              <a:t>Data Preprocessing Module</a:t>
            </a:r>
          </a:p>
          <a:p>
            <a:pPr lvl="0">
              <a:lnSpc>
                <a:spcPct val="150000"/>
              </a:lnSpc>
            </a:pPr>
            <a:r>
              <a:rPr lang="en-US" sz="2000" dirty="0" smtClean="0">
                <a:latin typeface="Times New Roman" pitchFamily="18" charset="0"/>
                <a:cs typeface="Times New Roman" pitchFamily="18" charset="0"/>
              </a:rPr>
              <a:t>Feature Engineering Module</a:t>
            </a:r>
          </a:p>
          <a:p>
            <a:pPr lvl="0">
              <a:lnSpc>
                <a:spcPct val="150000"/>
              </a:lnSpc>
            </a:pPr>
            <a:r>
              <a:rPr lang="en-US" sz="2000" dirty="0" smtClean="0">
                <a:latin typeface="Times New Roman" pitchFamily="18" charset="0"/>
                <a:cs typeface="Times New Roman" pitchFamily="18" charset="0"/>
              </a:rPr>
              <a:t>Model Development Module</a:t>
            </a:r>
          </a:p>
          <a:p>
            <a:pPr lvl="0">
              <a:lnSpc>
                <a:spcPct val="150000"/>
              </a:lnSpc>
            </a:pPr>
            <a:r>
              <a:rPr lang="en-US" sz="2000" dirty="0" smtClean="0">
                <a:latin typeface="Times New Roman" pitchFamily="18" charset="0"/>
                <a:cs typeface="Times New Roman" pitchFamily="18" charset="0"/>
              </a:rPr>
              <a:t>Explainable AI (XAI) Result Prediction Module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868362"/>
          </a:xfrm>
        </p:spPr>
        <p:txBody>
          <a:bodyPr>
            <a:normAutofit/>
          </a:bodyPr>
          <a:lstStyle/>
          <a:p>
            <a:pPr lvl="0" algn="ctr">
              <a:lnSpc>
                <a:spcPct val="150000"/>
              </a:lnSpc>
            </a:pPr>
            <a:r>
              <a:rPr lang="en-US" sz="2500" b="1" dirty="0" smtClean="0">
                <a:effectLst/>
                <a:latin typeface="Times New Roman" pitchFamily="18" charset="0"/>
                <a:cs typeface="Times New Roman" pitchFamily="18" charset="0"/>
              </a:rPr>
              <a:t>DATASET COLLECTION MODULE</a:t>
            </a:r>
          </a:p>
        </p:txBody>
      </p:sp>
      <p:sp>
        <p:nvSpPr>
          <p:cNvPr id="3" name="Content Placeholder 2"/>
          <p:cNvSpPr>
            <a:spLocks noGrp="1"/>
          </p:cNvSpPr>
          <p:nvPr>
            <p:ph idx="1"/>
          </p:nvPr>
        </p:nvSpPr>
        <p:spPr>
          <a:xfrm>
            <a:off x="1435608" y="1219200"/>
            <a:ext cx="7498080" cy="5334000"/>
          </a:xfrm>
        </p:spPr>
        <p:txBody>
          <a:bodyPr>
            <a:normAutofit/>
          </a:bodyPr>
          <a:lstStyle/>
          <a:p>
            <a:pPr algn="just">
              <a:lnSpc>
                <a:spcPct val="150000"/>
              </a:lnSpc>
            </a:pPr>
            <a:r>
              <a:rPr lang="en-US" sz="2000" dirty="0" smtClean="0">
                <a:latin typeface="Times New Roman" pitchFamily="18" charset="0"/>
                <a:cs typeface="Times New Roman" pitchFamily="18" charset="0"/>
              </a:rPr>
              <a:t>The dataset comprises 250 Type-2 diabetic patients and contains a range of features to predict diabetes distress and emotional burden. </a:t>
            </a:r>
          </a:p>
          <a:p>
            <a:pPr algn="just">
              <a:lnSpc>
                <a:spcPct val="150000"/>
              </a:lnSpc>
            </a:pPr>
            <a:r>
              <a:rPr lang="en-US" sz="2000" dirty="0" smtClean="0">
                <a:latin typeface="Times New Roman" pitchFamily="18" charset="0"/>
                <a:cs typeface="Times New Roman" pitchFamily="18" charset="0"/>
              </a:rPr>
              <a:t>Each entry is for a single patient and holds extensive demographic, lifestyle, and diabetes-related data.</a:t>
            </a:r>
          </a:p>
          <a:p>
            <a:pPr algn="just">
              <a:lnSpc>
                <a:spcPct val="150000"/>
              </a:lnSpc>
            </a:pPr>
            <a:r>
              <a:rPr lang="en-US" sz="2000" dirty="0" smtClean="0">
                <a:latin typeface="Times New Roman" pitchFamily="18" charset="0"/>
                <a:cs typeface="Times New Roman" pitchFamily="18" charset="0"/>
              </a:rPr>
              <a:t>To mitigate overfitting risks associated with smaller cohorts, this work employed stratified 5-fold cross-validation ensuring that each fold retained approximately 46 or 47 patients with proportional representation of low, moderate, and high distress levels and averaged performance metrics across folds. </a:t>
            </a:r>
          </a:p>
          <a:p>
            <a:pPr algn="just">
              <a:lnSpc>
                <a:spcPct val="150000"/>
              </a:lnSpc>
            </a:pPr>
            <a:endParaRPr lang="en-US" sz="2000" dirty="0" smtClean="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944562"/>
          </a:xfrm>
        </p:spPr>
        <p:txBody>
          <a:bodyPr>
            <a:normAutofit fontScale="90000"/>
          </a:bodyPr>
          <a:lstStyle/>
          <a:p>
            <a:pPr algn="ctr">
              <a:lnSpc>
                <a:spcPct val="150000"/>
              </a:lnSpc>
            </a:pPr>
            <a:r>
              <a:rPr lang="en-US" sz="2500" b="1" dirty="0" smtClean="0">
                <a:effectLst/>
                <a:latin typeface="Times New Roman" pitchFamily="18" charset="0"/>
                <a:cs typeface="Times New Roman" pitchFamily="18" charset="0"/>
              </a:rPr>
              <a:t>EXPLORATORY DATA ANALYSIS (EDA) MODULE</a:t>
            </a:r>
            <a:endParaRPr lang="en-GB" sz="2500" b="1" dirty="0" smtClean="0">
              <a:effectLst/>
              <a:latin typeface="Times New Roman" pitchFamily="18" charset="0"/>
              <a:cs typeface="Times New Roman" pitchFamily="18" charset="0"/>
            </a:endParaRPr>
          </a:p>
        </p:txBody>
      </p:sp>
      <p:sp>
        <p:nvSpPr>
          <p:cNvPr id="3" name="Content Placeholder 2"/>
          <p:cNvSpPr>
            <a:spLocks noGrp="1"/>
          </p:cNvSpPr>
          <p:nvPr>
            <p:ph idx="1"/>
          </p:nvPr>
        </p:nvSpPr>
        <p:spPr>
          <a:xfrm>
            <a:off x="1371600" y="1295400"/>
            <a:ext cx="7498080" cy="5334000"/>
          </a:xfrm>
        </p:spPr>
        <p:txBody>
          <a:bodyPr>
            <a:normAutofit/>
          </a:bodyPr>
          <a:lstStyle/>
          <a:p>
            <a:pPr algn="just">
              <a:lnSpc>
                <a:spcPct val="150000"/>
              </a:lnSpc>
            </a:pPr>
            <a:r>
              <a:rPr lang="en-US" sz="2000" dirty="0" smtClean="0">
                <a:latin typeface="Times New Roman" pitchFamily="18" charset="0"/>
                <a:cs typeface="Times New Roman" pitchFamily="18" charset="0"/>
              </a:rPr>
              <a:t>Exploratory Data Analysis (EDA) is an important step for interpreting dataset structure. </a:t>
            </a:r>
          </a:p>
          <a:p>
            <a:pPr algn="just">
              <a:lnSpc>
                <a:spcPct val="150000"/>
              </a:lnSpc>
            </a:pPr>
            <a:r>
              <a:rPr lang="en-US" sz="2000" dirty="0" smtClean="0">
                <a:latin typeface="Times New Roman" pitchFamily="18" charset="0"/>
                <a:cs typeface="Times New Roman" pitchFamily="18" charset="0"/>
              </a:rPr>
              <a:t>It employs methods that identify patterns, relationships, and outliers and also verify data quality and missing values.</a:t>
            </a:r>
          </a:p>
          <a:p>
            <a:pPr algn="just">
              <a:lnSpc>
                <a:spcPct val="150000"/>
              </a:lnSpc>
            </a:pPr>
            <a:r>
              <a:rPr lang="en-US" sz="2000" dirty="0" smtClean="0">
                <a:latin typeface="Times New Roman" pitchFamily="18" charset="0"/>
                <a:cs typeface="Times New Roman" pitchFamily="18" charset="0"/>
              </a:rPr>
              <a:t>Identify Target Variables - For regression, the main target is the Total DDS Score, which indicates the overall degree of diabetic distress. </a:t>
            </a:r>
          </a:p>
          <a:p>
            <a:pPr algn="just">
              <a:lnSpc>
                <a:spcPct val="150000"/>
              </a:lnSpc>
            </a:pPr>
            <a:r>
              <a:rPr lang="en-US" sz="2000" dirty="0" smtClean="0">
                <a:latin typeface="Times New Roman" pitchFamily="18" charset="0"/>
                <a:cs typeface="Times New Roman" pitchFamily="18" charset="0"/>
              </a:rPr>
              <a:t>Explore Relationships - Exploring the relationships among various features and target variables is an essential step in data analysis.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868362"/>
          </a:xfrm>
        </p:spPr>
        <p:txBody>
          <a:bodyPr>
            <a:normAutofit/>
          </a:bodyPr>
          <a:lstStyle/>
          <a:p>
            <a:pPr lvl="0" algn="ctr">
              <a:lnSpc>
                <a:spcPct val="150000"/>
              </a:lnSpc>
            </a:pPr>
            <a:r>
              <a:rPr lang="en-GB" sz="2500" b="1" dirty="0" smtClean="0">
                <a:effectLst/>
                <a:latin typeface="Times New Roman" pitchFamily="18" charset="0"/>
                <a:cs typeface="Times New Roman" pitchFamily="18" charset="0"/>
              </a:rPr>
              <a:t>DATA PREPROCESSING MODULE</a:t>
            </a:r>
          </a:p>
        </p:txBody>
      </p:sp>
      <p:sp>
        <p:nvSpPr>
          <p:cNvPr id="3" name="Content Placeholder 2"/>
          <p:cNvSpPr>
            <a:spLocks noGrp="1"/>
          </p:cNvSpPr>
          <p:nvPr>
            <p:ph idx="1"/>
          </p:nvPr>
        </p:nvSpPr>
        <p:spPr>
          <a:xfrm>
            <a:off x="1435608" y="1295400"/>
            <a:ext cx="7498080" cy="5181600"/>
          </a:xfrm>
        </p:spPr>
        <p:txBody>
          <a:bodyPr>
            <a:normAutofit lnSpcReduction="10000"/>
          </a:bodyPr>
          <a:lstStyle/>
          <a:p>
            <a:pPr algn="just">
              <a:lnSpc>
                <a:spcPct val="150000"/>
              </a:lnSpc>
            </a:pPr>
            <a:r>
              <a:rPr lang="en-US" sz="2000" dirty="0" smtClean="0">
                <a:latin typeface="Times New Roman" pitchFamily="18" charset="0"/>
                <a:cs typeface="Times New Roman" pitchFamily="18" charset="0"/>
              </a:rPr>
              <a:t>Techniques such as mean or median imputation, KNN imputation, outlier detection and categorical encoding are used to prepare the dataset for reliable modeling. </a:t>
            </a:r>
          </a:p>
          <a:p>
            <a:pPr algn="just">
              <a:lnSpc>
                <a:spcPct val="150000"/>
              </a:lnSpc>
            </a:pPr>
            <a:r>
              <a:rPr lang="en-US" sz="2000" dirty="0" smtClean="0">
                <a:latin typeface="Times New Roman" pitchFamily="18" charset="0"/>
                <a:cs typeface="Times New Roman" pitchFamily="18" charset="0"/>
              </a:rPr>
              <a:t>Data Consistency - Ensuring that the dataset is consistent in terms of data types, formats, and scales is fundamental for downstream analysis. </a:t>
            </a:r>
          </a:p>
          <a:p>
            <a:pPr algn="just">
              <a:lnSpc>
                <a:spcPct val="150000"/>
              </a:lnSpc>
            </a:pPr>
            <a:r>
              <a:rPr lang="en-US" sz="2000" dirty="0" smtClean="0">
                <a:latin typeface="Times New Roman" pitchFamily="18" charset="0"/>
                <a:cs typeface="Times New Roman" pitchFamily="18" charset="0"/>
              </a:rPr>
              <a:t>Handling Missing Data - Missing data can introduce bias, reduce model effectiveness, and lead to incorrect inferences. </a:t>
            </a:r>
          </a:p>
          <a:p>
            <a:pPr algn="just">
              <a:lnSpc>
                <a:spcPct val="150000"/>
              </a:lnSpc>
            </a:pPr>
            <a:r>
              <a:rPr lang="en-US" sz="2000" dirty="0" smtClean="0">
                <a:latin typeface="Times New Roman" pitchFamily="18" charset="0"/>
                <a:cs typeface="Times New Roman" pitchFamily="18" charset="0"/>
              </a:rPr>
              <a:t>Feature Encoding - Many machine learning algorithms require numerical input; thus, encoding these variables, they can be transformed into a format suitable for the models.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lgn="ctr">
              <a:lnSpc>
                <a:spcPct val="150000"/>
              </a:lnSpc>
            </a:pPr>
            <a:r>
              <a:rPr lang="en-GB" sz="2500" b="1" dirty="0" smtClean="0">
                <a:effectLst/>
                <a:latin typeface="Times New Roman" pitchFamily="18" charset="0"/>
                <a:cs typeface="Times New Roman" pitchFamily="18" charset="0"/>
              </a:rPr>
              <a:t>FEATURE ENGINEERING MODULE</a:t>
            </a:r>
          </a:p>
        </p:txBody>
      </p:sp>
      <p:sp>
        <p:nvSpPr>
          <p:cNvPr id="3" name="Content Placeholder 2"/>
          <p:cNvSpPr>
            <a:spLocks noGrp="1"/>
          </p:cNvSpPr>
          <p:nvPr>
            <p:ph idx="1"/>
          </p:nvPr>
        </p:nvSpPr>
        <p:spPr>
          <a:xfrm>
            <a:off x="1371600" y="1371600"/>
            <a:ext cx="7498080" cy="5105400"/>
          </a:xfrm>
        </p:spPr>
        <p:txBody>
          <a:bodyPr>
            <a:normAutofit/>
          </a:bodyPr>
          <a:lstStyle/>
          <a:p>
            <a:pPr algn="just">
              <a:lnSpc>
                <a:spcPct val="150000"/>
              </a:lnSpc>
            </a:pPr>
            <a:r>
              <a:rPr lang="en-US" sz="2000" dirty="0" smtClean="0">
                <a:latin typeface="Times New Roman" pitchFamily="18" charset="0"/>
                <a:cs typeface="Times New Roman" pitchFamily="18" charset="0"/>
              </a:rPr>
              <a:t>This sub-section discusses how to identify and select the most helpful features for distress score and severity level prediction.</a:t>
            </a:r>
          </a:p>
          <a:p>
            <a:pPr algn="just">
              <a:lnSpc>
                <a:spcPct val="150000"/>
              </a:lnSpc>
            </a:pPr>
            <a:r>
              <a:rPr lang="en-US" sz="2000" dirty="0" smtClean="0">
                <a:latin typeface="Times New Roman" pitchFamily="18" charset="0"/>
                <a:cs typeface="Times New Roman" pitchFamily="18" charset="0"/>
              </a:rPr>
              <a:t>It constitutes generating new features out of available data, selecting the most appropriate ones, and reshaping them to optimize model precision. </a:t>
            </a:r>
          </a:p>
          <a:p>
            <a:pPr algn="just">
              <a:lnSpc>
                <a:spcPct val="150000"/>
              </a:lnSpc>
            </a:pPr>
            <a:r>
              <a:rPr lang="en-US" sz="2000" dirty="0" smtClean="0">
                <a:latin typeface="Times New Roman" pitchFamily="18" charset="0"/>
                <a:cs typeface="Times New Roman" pitchFamily="18" charset="0"/>
              </a:rPr>
              <a:t>A combination of feature engineering methods to more accurately predict both the Diabetic Distress Scale (DDS) Score as well as the corresponding severity levels.</a:t>
            </a:r>
          </a:p>
          <a:p>
            <a:pPr algn="just">
              <a:lnSpc>
                <a:spcPct val="150000"/>
              </a:lnSpc>
            </a:pPr>
            <a:r>
              <a:rPr lang="en-US" sz="2000" dirty="0" smtClean="0">
                <a:latin typeface="Times New Roman" pitchFamily="18" charset="0"/>
                <a:cs typeface="Times New Roman" pitchFamily="18" charset="0"/>
              </a:rPr>
              <a:t>The goal here is to explore the emotional burden and diabetic distress experienced by patients with Type-2 diabetes.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868362"/>
          </a:xfrm>
        </p:spPr>
        <p:txBody>
          <a:bodyPr>
            <a:normAutofit/>
          </a:bodyPr>
          <a:lstStyle/>
          <a:p>
            <a:pPr algn="ctr"/>
            <a:r>
              <a:rPr lang="en-US" sz="2500" b="1" dirty="0" smtClean="0">
                <a:effectLst/>
                <a:latin typeface="Times New Roman" pitchFamily="18" charset="0"/>
                <a:cs typeface="Times New Roman" pitchFamily="18" charset="0"/>
              </a:rPr>
              <a:t>MODEL DEVELOPMENT MODULE</a:t>
            </a:r>
          </a:p>
        </p:txBody>
      </p:sp>
      <p:sp>
        <p:nvSpPr>
          <p:cNvPr id="3" name="Content Placeholder 2"/>
          <p:cNvSpPr>
            <a:spLocks noGrp="1"/>
          </p:cNvSpPr>
          <p:nvPr>
            <p:ph idx="1"/>
          </p:nvPr>
        </p:nvSpPr>
        <p:spPr>
          <a:xfrm>
            <a:off x="1371600" y="1219200"/>
            <a:ext cx="7498080" cy="5257800"/>
          </a:xfrm>
        </p:spPr>
        <p:txBody>
          <a:bodyPr>
            <a:noAutofit/>
          </a:bodyPr>
          <a:lstStyle/>
          <a:p>
            <a:pPr algn="just">
              <a:lnSpc>
                <a:spcPct val="150000"/>
              </a:lnSpc>
            </a:pPr>
            <a:r>
              <a:rPr lang="en-US" sz="2000" dirty="0" smtClean="0">
                <a:latin typeface="Times New Roman" pitchFamily="18" charset="0"/>
                <a:cs typeface="Times New Roman" pitchFamily="18" charset="0"/>
              </a:rPr>
              <a:t>Train various machine learning models for predicting distress levels and scores. </a:t>
            </a:r>
          </a:p>
          <a:p>
            <a:pPr algn="just">
              <a:lnSpc>
                <a:spcPct val="150000"/>
              </a:lnSpc>
            </a:pPr>
            <a:r>
              <a:rPr lang="en-US" sz="2000" dirty="0" smtClean="0">
                <a:latin typeface="Times New Roman" pitchFamily="18" charset="0"/>
                <a:cs typeface="Times New Roman" pitchFamily="18" charset="0"/>
              </a:rPr>
              <a:t>Incorporate more sophisticated methods like random forests, gradient boosting, support vector machines, and neural networks to boost the accuracy of prediction. </a:t>
            </a:r>
          </a:p>
          <a:p>
            <a:pPr algn="just">
              <a:lnSpc>
                <a:spcPct val="150000"/>
              </a:lnSpc>
            </a:pPr>
            <a:r>
              <a:rPr lang="en-US" sz="2000" dirty="0" smtClean="0">
                <a:latin typeface="Times New Roman" pitchFamily="18" charset="0"/>
                <a:cs typeface="Times New Roman" pitchFamily="18" charset="0"/>
              </a:rPr>
              <a:t>Ensemble techniques and grid search hyper parameter tuning are also explained here to enhance model performance as well as to show the performance of each technique.</a:t>
            </a:r>
          </a:p>
          <a:p>
            <a:pPr algn="just">
              <a:lnSpc>
                <a:spcPct val="150000"/>
              </a:lnSpc>
            </a:pPr>
            <a:r>
              <a:rPr lang="en-US" sz="2000" dirty="0" smtClean="0">
                <a:latin typeface="Times New Roman" pitchFamily="18" charset="0"/>
                <a:cs typeface="Times New Roman" pitchFamily="18" charset="0"/>
              </a:rPr>
              <a:t>These approaches combine multiple models to reduce over-fitting and improve generalization, providing a robust solution for both regression and classification.</a:t>
            </a:r>
          </a:p>
          <a:p>
            <a:pPr algn="just">
              <a:lnSpc>
                <a:spcPct val="150000"/>
              </a:lnSpc>
            </a:pPr>
            <a:endParaRPr lang="en-US" sz="2000" dirty="0" smtClean="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28600"/>
            <a:ext cx="7498080" cy="914400"/>
          </a:xfrm>
        </p:spPr>
        <p:txBody>
          <a:bodyPr>
            <a:normAutofit/>
          </a:bodyPr>
          <a:lstStyle/>
          <a:p>
            <a:pPr algn="ctr"/>
            <a:r>
              <a:rPr lang="en-US" sz="2500" b="1" dirty="0" smtClean="0">
                <a:effectLst/>
                <a:latin typeface="Times New Roman" pitchFamily="18" charset="0"/>
                <a:cs typeface="Times New Roman" pitchFamily="18" charset="0"/>
              </a:rPr>
              <a:t>EXPLAINABLE AI (XAI) RESULT PREDICTION MODULE</a:t>
            </a:r>
            <a:endParaRPr lang="en-US" sz="2500" dirty="0">
              <a:effectLst/>
              <a:latin typeface="Times New Roman" pitchFamily="18" charset="0"/>
              <a:cs typeface="Times New Roman" pitchFamily="18" charset="0"/>
            </a:endParaRPr>
          </a:p>
        </p:txBody>
      </p:sp>
      <p:sp>
        <p:nvSpPr>
          <p:cNvPr id="3" name="Content Placeholder 2"/>
          <p:cNvSpPr>
            <a:spLocks noGrp="1"/>
          </p:cNvSpPr>
          <p:nvPr>
            <p:ph idx="1"/>
          </p:nvPr>
        </p:nvSpPr>
        <p:spPr>
          <a:xfrm>
            <a:off x="1435608" y="1066800"/>
            <a:ext cx="7498080" cy="5181600"/>
          </a:xfrm>
        </p:spPr>
        <p:txBody>
          <a:bodyPr>
            <a:normAutofit/>
          </a:bodyPr>
          <a:lstStyle/>
          <a:p>
            <a:pPr algn="just">
              <a:lnSpc>
                <a:spcPct val="150000"/>
              </a:lnSpc>
            </a:pPr>
            <a:r>
              <a:rPr lang="en-US" sz="2000" dirty="0" smtClean="0">
                <a:latin typeface="Times New Roman" pitchFamily="18" charset="0"/>
                <a:cs typeface="Times New Roman" pitchFamily="18" charset="0"/>
              </a:rPr>
              <a:t>The primary goal is to give healthcare professionals and patients a clear understanding of how the machine learning model arrives at its predictions, building trust in the decision-making process. </a:t>
            </a:r>
          </a:p>
          <a:p>
            <a:pPr algn="just">
              <a:lnSpc>
                <a:spcPct val="150000"/>
              </a:lnSpc>
            </a:pPr>
            <a:r>
              <a:rPr lang="en-US" sz="2000" dirty="0" smtClean="0">
                <a:latin typeface="Times New Roman" pitchFamily="18" charset="0"/>
                <a:cs typeface="Times New Roman" pitchFamily="18" charset="0"/>
              </a:rPr>
              <a:t>SHAP breaks down model predictions into understandable components, explaining how each feature predicts diabetic distress and severity of emotional burden.</a:t>
            </a:r>
          </a:p>
          <a:p>
            <a:pPr algn="just">
              <a:lnSpc>
                <a:spcPct val="150000"/>
              </a:lnSpc>
            </a:pPr>
            <a:r>
              <a:rPr lang="en-US" sz="2000" dirty="0" smtClean="0">
                <a:latin typeface="Times New Roman" pitchFamily="18" charset="0"/>
                <a:cs typeface="Times New Roman" pitchFamily="18" charset="0"/>
              </a:rPr>
              <a:t>XGBoost is the machine learning component underlying for its great performance and classification speed. </a:t>
            </a:r>
          </a:p>
          <a:p>
            <a:pPr algn="just">
              <a:lnSpc>
                <a:spcPct val="150000"/>
              </a:lnSpc>
            </a:pPr>
            <a:r>
              <a:rPr lang="en-US" sz="2000" dirty="0" smtClean="0">
                <a:latin typeface="Times New Roman" pitchFamily="18" charset="0"/>
                <a:cs typeface="Times New Roman" pitchFamily="18" charset="0"/>
              </a:rPr>
              <a:t>The explainable AI component is the fusion of techniques that add transparency to XGBoost. </a:t>
            </a:r>
            <a:endParaRPr lang="en-US" sz="20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500" b="1" dirty="0" smtClean="0">
                <a:effectLst/>
                <a:latin typeface="Times New Roman" pitchFamily="18" charset="0"/>
                <a:cs typeface="Times New Roman" pitchFamily="18" charset="0"/>
              </a:rPr>
              <a:t>FEASIBILITY STUDY</a:t>
            </a:r>
            <a:endParaRPr lang="en-US" sz="2500" dirty="0">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lnSpc>
                <a:spcPct val="150000"/>
              </a:lnSpc>
            </a:pPr>
            <a:r>
              <a:rPr lang="en-US" sz="2000" b="1" dirty="0" smtClean="0">
                <a:latin typeface="Times New Roman" pitchFamily="18" charset="0"/>
                <a:cs typeface="Times New Roman" pitchFamily="18" charset="0"/>
              </a:rPr>
              <a:t>Technical Feasibility: </a:t>
            </a:r>
            <a:r>
              <a:rPr lang="en-US" sz="2000" dirty="0" smtClean="0">
                <a:latin typeface="Times New Roman" pitchFamily="18" charset="0"/>
                <a:cs typeface="Times New Roman" pitchFamily="18" charset="0"/>
              </a:rPr>
              <a:t>It mainly associated with the technologically evolutes the project. Based on the results it decides whether the technical team is able to convert the idea into real. </a:t>
            </a:r>
          </a:p>
          <a:p>
            <a:pPr algn="just">
              <a:lnSpc>
                <a:spcPct val="150000"/>
              </a:lnSpc>
            </a:pPr>
            <a:r>
              <a:rPr lang="en-US" sz="2000" b="1" dirty="0" smtClean="0">
                <a:latin typeface="Times New Roman" pitchFamily="18" charset="0"/>
                <a:cs typeface="Times New Roman" pitchFamily="18" charset="0"/>
              </a:rPr>
              <a:t>Economical Feasibility: </a:t>
            </a:r>
            <a:r>
              <a:rPr lang="en-US" sz="2000" dirty="0" smtClean="0">
                <a:latin typeface="Times New Roman" pitchFamily="18" charset="0"/>
                <a:cs typeface="Times New Roman" pitchFamily="18" charset="0"/>
              </a:rPr>
              <a:t>Economic feasibility study related with price, and all kind of expenditure related with the scheme before the project start. This evaluation process also studies the price benefits of the proposed scheme. </a:t>
            </a:r>
          </a:p>
          <a:p>
            <a:pPr algn="just">
              <a:lnSpc>
                <a:spcPct val="150000"/>
              </a:lnSpc>
            </a:pPr>
            <a:r>
              <a:rPr lang="en-US" sz="2000" b="1" dirty="0" smtClean="0">
                <a:latin typeface="Times New Roman" pitchFamily="18" charset="0"/>
                <a:cs typeface="Times New Roman" pitchFamily="18" charset="0"/>
              </a:rPr>
              <a:t>Operational Feasibility: </a:t>
            </a:r>
            <a:r>
              <a:rPr lang="en-US" sz="2000" dirty="0" smtClean="0">
                <a:latin typeface="Times New Roman" pitchFamily="18" charset="0"/>
                <a:cs typeface="Times New Roman" pitchFamily="18" charset="0"/>
              </a:rPr>
              <a:t>Operational Feasibility may employ the responsibility to examine and also decide whether the proposed </a:t>
            </a:r>
            <a:r>
              <a:rPr lang="en-US" sz="2000" smtClean="0">
                <a:latin typeface="Times New Roman" pitchFamily="18" charset="0"/>
                <a:cs typeface="Times New Roman" pitchFamily="18" charset="0"/>
              </a:rPr>
              <a:t>methods fulfill </a:t>
            </a:r>
            <a:r>
              <a:rPr lang="en-US" sz="2000" dirty="0" smtClean="0">
                <a:latin typeface="Times New Roman" pitchFamily="18" charset="0"/>
                <a:cs typeface="Times New Roman" pitchFamily="18" charset="0"/>
              </a:rPr>
              <a:t>all kind of requirements. </a:t>
            </a:r>
            <a:endParaRPr lang="en-US" sz="20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500" b="1" dirty="0" smtClean="0">
                <a:effectLst/>
                <a:latin typeface="Times New Roman" pitchFamily="18" charset="0"/>
                <a:cs typeface="Times New Roman" pitchFamily="18" charset="0"/>
              </a:rPr>
              <a:t>SYSTEM ARCHITECTURE</a:t>
            </a:r>
            <a:endParaRPr lang="en-US" sz="2500" dirty="0">
              <a:effectLst/>
              <a:latin typeface="Times New Roman" pitchFamily="18" charset="0"/>
              <a:cs typeface="Times New Roman" pitchFamily="18" charset="0"/>
            </a:endParaRPr>
          </a:p>
        </p:txBody>
      </p:sp>
      <p:pic>
        <p:nvPicPr>
          <p:cNvPr id="1026" name="Picture 2" descr="G:\#ImmaTech_2025-2026\Main_Project\Abdul Hakeem\Predicting Diabetic Distress and Emotional\COMPLETE DOCUMENT\DDS-II Arch.png"/>
          <p:cNvPicPr>
            <a:picLocks noGrp="1" noChangeAspect="1" noChangeArrowheads="1"/>
          </p:cNvPicPr>
          <p:nvPr>
            <p:ph idx="1"/>
          </p:nvPr>
        </p:nvPicPr>
        <p:blipFill>
          <a:blip r:embed="rId2"/>
          <a:srcRect/>
          <a:stretch>
            <a:fillRect/>
          </a:stretch>
        </p:blipFill>
        <p:spPr bwMode="auto">
          <a:xfrm>
            <a:off x="2733301" y="1447800"/>
            <a:ext cx="4902947" cy="48006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500" b="1" dirty="0" smtClean="0">
                <a:effectLst/>
                <a:latin typeface="Times New Roman" pitchFamily="18" charset="0"/>
                <a:cs typeface="Times New Roman" pitchFamily="18" charset="0"/>
              </a:rPr>
              <a:t>DATAFLOW DIAGRAM</a:t>
            </a:r>
            <a:endParaRPr lang="en-US" sz="2500" dirty="0">
              <a:effectLst/>
              <a:latin typeface="Times New Roman" pitchFamily="18" charset="0"/>
              <a:cs typeface="Times New Roman" pitchFamily="18" charset="0"/>
            </a:endParaRPr>
          </a:p>
        </p:txBody>
      </p:sp>
      <p:grpSp>
        <p:nvGrpSpPr>
          <p:cNvPr id="2050" name="Group 2"/>
          <p:cNvGrpSpPr>
            <a:grpSpLocks noGrp="1"/>
          </p:cNvGrpSpPr>
          <p:nvPr>
            <p:ph idx="1"/>
          </p:nvPr>
        </p:nvGrpSpPr>
        <p:grpSpPr bwMode="auto">
          <a:xfrm>
            <a:off x="1739900" y="1447800"/>
            <a:ext cx="6870700" cy="4800600"/>
            <a:chOff x="2805" y="2820"/>
            <a:chExt cx="6210" cy="10980"/>
          </a:xfrm>
        </p:grpSpPr>
        <p:grpSp>
          <p:nvGrpSpPr>
            <p:cNvPr id="2051" name="Group 3"/>
            <p:cNvGrpSpPr>
              <a:grpSpLocks/>
            </p:cNvGrpSpPr>
            <p:nvPr/>
          </p:nvGrpSpPr>
          <p:grpSpPr bwMode="auto">
            <a:xfrm>
              <a:off x="2805" y="2820"/>
              <a:ext cx="6210" cy="10980"/>
              <a:chOff x="2805" y="2820"/>
              <a:chExt cx="6210" cy="10980"/>
            </a:xfrm>
          </p:grpSpPr>
          <p:grpSp>
            <p:nvGrpSpPr>
              <p:cNvPr id="2052" name="Group 4"/>
              <p:cNvGrpSpPr>
                <a:grpSpLocks/>
              </p:cNvGrpSpPr>
              <p:nvPr/>
            </p:nvGrpSpPr>
            <p:grpSpPr bwMode="auto">
              <a:xfrm>
                <a:off x="5325" y="2820"/>
                <a:ext cx="1635" cy="922"/>
                <a:chOff x="5325" y="1875"/>
                <a:chExt cx="1635" cy="922"/>
              </a:xfrm>
            </p:grpSpPr>
            <p:sp>
              <p:nvSpPr>
                <p:cNvPr id="2053" name="AutoShape 5"/>
                <p:cNvSpPr>
                  <a:spLocks noChangeArrowheads="1"/>
                </p:cNvSpPr>
                <p:nvPr/>
              </p:nvSpPr>
              <p:spPr bwMode="auto">
                <a:xfrm>
                  <a:off x="5325" y="1875"/>
                  <a:ext cx="1635" cy="510"/>
                </a:xfrm>
                <a:prstGeom prst="roundRect">
                  <a:avLst>
                    <a:gd name="adj" fmla="val 16667"/>
                  </a:avLst>
                </a:prstGeom>
                <a:solidFill>
                  <a:srgbClr val="FFFFFF"/>
                </a:solidFill>
                <a:ln w="19050">
                  <a:solidFill>
                    <a:srgbClr val="000000"/>
                  </a:solidFill>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Times New Roman" pitchFamily="18" charset="0"/>
                      <a:cs typeface="Arial" pitchFamily="34" charset="0"/>
                    </a:rPr>
                    <a:t>Start</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cxnSp>
              <p:nvCxnSpPr>
                <p:cNvPr id="2054" name="AutoShape 6"/>
                <p:cNvCxnSpPr>
                  <a:cxnSpLocks noChangeShapeType="1"/>
                </p:cNvCxnSpPr>
                <p:nvPr/>
              </p:nvCxnSpPr>
              <p:spPr bwMode="auto">
                <a:xfrm>
                  <a:off x="6150" y="2385"/>
                  <a:ext cx="0" cy="412"/>
                </a:xfrm>
                <a:prstGeom prst="straightConnector1">
                  <a:avLst/>
                </a:prstGeom>
                <a:noFill/>
                <a:ln w="19050">
                  <a:solidFill>
                    <a:srgbClr val="000000"/>
                  </a:solidFill>
                  <a:round/>
                  <a:headEnd/>
                  <a:tailEnd type="triangle" w="med" len="med"/>
                </a:ln>
              </p:spPr>
            </p:cxnSp>
          </p:grpSp>
          <p:sp>
            <p:nvSpPr>
              <p:cNvPr id="2055" name="AutoShape 7"/>
              <p:cNvSpPr>
                <a:spLocks noChangeArrowheads="1"/>
              </p:cNvSpPr>
              <p:nvPr/>
            </p:nvSpPr>
            <p:spPr bwMode="auto">
              <a:xfrm>
                <a:off x="5325" y="13290"/>
                <a:ext cx="1635" cy="510"/>
              </a:xfrm>
              <a:prstGeom prst="roundRect">
                <a:avLst>
                  <a:gd name="adj" fmla="val 16667"/>
                </a:avLst>
              </a:prstGeom>
              <a:solidFill>
                <a:srgbClr val="FFFFFF"/>
              </a:solidFill>
              <a:ln w="19050">
                <a:solidFill>
                  <a:srgbClr val="000000"/>
                </a:solidFill>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Times New Roman" pitchFamily="18" charset="0"/>
                    <a:cs typeface="Arial" pitchFamily="34" charset="0"/>
                  </a:rPr>
                  <a:t>Stop</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56" name="Rectangle 8"/>
              <p:cNvSpPr>
                <a:spLocks noChangeArrowheads="1"/>
              </p:cNvSpPr>
              <p:nvPr/>
            </p:nvSpPr>
            <p:spPr bwMode="auto">
              <a:xfrm>
                <a:off x="5280" y="3742"/>
                <a:ext cx="1725" cy="579"/>
              </a:xfrm>
              <a:prstGeom prst="rect">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Times New Roman" pitchFamily="18" charset="0"/>
                    <a:cs typeface="Arial" pitchFamily="34" charset="0"/>
                  </a:rPr>
                  <a:t>Doctor</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pSp>
            <p:nvGrpSpPr>
              <p:cNvPr id="2057" name="Group 9"/>
              <p:cNvGrpSpPr>
                <a:grpSpLocks/>
              </p:cNvGrpSpPr>
              <p:nvPr/>
            </p:nvGrpSpPr>
            <p:grpSpPr bwMode="auto">
              <a:xfrm>
                <a:off x="5205" y="4321"/>
                <a:ext cx="2400" cy="2151"/>
                <a:chOff x="5205" y="4321"/>
                <a:chExt cx="2400" cy="2151"/>
              </a:xfrm>
            </p:grpSpPr>
            <p:cxnSp>
              <p:nvCxnSpPr>
                <p:cNvPr id="2058" name="AutoShape 10"/>
                <p:cNvCxnSpPr>
                  <a:cxnSpLocks noChangeShapeType="1"/>
                </p:cNvCxnSpPr>
                <p:nvPr/>
              </p:nvCxnSpPr>
              <p:spPr bwMode="auto">
                <a:xfrm>
                  <a:off x="6150" y="4321"/>
                  <a:ext cx="0" cy="412"/>
                </a:xfrm>
                <a:prstGeom prst="straightConnector1">
                  <a:avLst/>
                </a:prstGeom>
                <a:noFill/>
                <a:ln w="19050">
                  <a:solidFill>
                    <a:srgbClr val="000000"/>
                  </a:solidFill>
                  <a:round/>
                  <a:headEnd/>
                  <a:tailEnd type="triangle" w="med" len="med"/>
                </a:ln>
              </p:spPr>
            </p:cxnSp>
            <p:sp>
              <p:nvSpPr>
                <p:cNvPr id="2059" name="AutoShape 11"/>
                <p:cNvSpPr>
                  <a:spLocks noChangeArrowheads="1"/>
                </p:cNvSpPr>
                <p:nvPr/>
              </p:nvSpPr>
              <p:spPr bwMode="auto">
                <a:xfrm>
                  <a:off x="5205" y="4740"/>
                  <a:ext cx="1890" cy="1320"/>
                </a:xfrm>
                <a:prstGeom prst="diamond">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Times New Roman" pitchFamily="18" charset="0"/>
                      <a:cs typeface="Arial" pitchFamily="34" charset="0"/>
                    </a:rPr>
                    <a:t>Login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cxnSp>
              <p:nvCxnSpPr>
                <p:cNvPr id="2060" name="AutoShape 12"/>
                <p:cNvCxnSpPr>
                  <a:cxnSpLocks noChangeShapeType="1"/>
                </p:cNvCxnSpPr>
                <p:nvPr/>
              </p:nvCxnSpPr>
              <p:spPr bwMode="auto">
                <a:xfrm>
                  <a:off x="7095" y="5385"/>
                  <a:ext cx="510" cy="0"/>
                </a:xfrm>
                <a:prstGeom prst="straightConnector1">
                  <a:avLst/>
                </a:prstGeom>
                <a:noFill/>
                <a:ln w="19050">
                  <a:solidFill>
                    <a:srgbClr val="000000"/>
                  </a:solidFill>
                  <a:round/>
                  <a:headEnd/>
                  <a:tailEnd/>
                </a:ln>
              </p:spPr>
            </p:cxnSp>
            <p:cxnSp>
              <p:nvCxnSpPr>
                <p:cNvPr id="2061" name="AutoShape 13"/>
                <p:cNvCxnSpPr>
                  <a:cxnSpLocks noChangeShapeType="1"/>
                </p:cNvCxnSpPr>
                <p:nvPr/>
              </p:nvCxnSpPr>
              <p:spPr bwMode="auto">
                <a:xfrm>
                  <a:off x="7605" y="4485"/>
                  <a:ext cx="0" cy="900"/>
                </a:xfrm>
                <a:prstGeom prst="straightConnector1">
                  <a:avLst/>
                </a:prstGeom>
                <a:noFill/>
                <a:ln w="19050">
                  <a:solidFill>
                    <a:srgbClr val="000000"/>
                  </a:solidFill>
                  <a:round/>
                  <a:headEnd/>
                  <a:tailEnd/>
                </a:ln>
              </p:spPr>
            </p:cxnSp>
            <p:cxnSp>
              <p:nvCxnSpPr>
                <p:cNvPr id="2062" name="AutoShape 14"/>
                <p:cNvCxnSpPr>
                  <a:cxnSpLocks noChangeShapeType="1"/>
                </p:cNvCxnSpPr>
                <p:nvPr/>
              </p:nvCxnSpPr>
              <p:spPr bwMode="auto">
                <a:xfrm flipH="1">
                  <a:off x="6150" y="4485"/>
                  <a:ext cx="1455" cy="0"/>
                </a:xfrm>
                <a:prstGeom prst="straightConnector1">
                  <a:avLst/>
                </a:prstGeom>
                <a:noFill/>
                <a:ln w="19050">
                  <a:solidFill>
                    <a:srgbClr val="000000"/>
                  </a:solidFill>
                  <a:round/>
                  <a:headEnd/>
                  <a:tailEnd type="triangle" w="med" len="med"/>
                </a:ln>
              </p:spPr>
            </p:cxnSp>
            <p:sp>
              <p:nvSpPr>
                <p:cNvPr id="2063" name="Text Box 15"/>
                <p:cNvSpPr txBox="1">
                  <a:spLocks noChangeArrowheads="1"/>
                </p:cNvSpPr>
                <p:nvPr/>
              </p:nvSpPr>
              <p:spPr bwMode="auto">
                <a:xfrm>
                  <a:off x="6930" y="4814"/>
                  <a:ext cx="585" cy="352"/>
                </a:xfrm>
                <a:prstGeom prst="rect">
                  <a:avLst/>
                </a:prstGeom>
                <a:solidFill>
                  <a:srgbClr val="FFFFFF"/>
                </a:solid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Times New Roman" pitchFamily="18" charset="0"/>
                      <a:cs typeface="Arial" pitchFamily="34" charset="0"/>
                    </a:rPr>
                    <a:t>No</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cxnSp>
              <p:nvCxnSpPr>
                <p:cNvPr id="2064" name="AutoShape 16"/>
                <p:cNvCxnSpPr>
                  <a:cxnSpLocks noChangeShapeType="1"/>
                </p:cNvCxnSpPr>
                <p:nvPr/>
              </p:nvCxnSpPr>
              <p:spPr bwMode="auto">
                <a:xfrm>
                  <a:off x="6150" y="6060"/>
                  <a:ext cx="0" cy="412"/>
                </a:xfrm>
                <a:prstGeom prst="straightConnector1">
                  <a:avLst/>
                </a:prstGeom>
                <a:noFill/>
                <a:ln w="19050">
                  <a:solidFill>
                    <a:srgbClr val="000000"/>
                  </a:solidFill>
                  <a:round/>
                  <a:headEnd/>
                  <a:tailEnd type="triangle" w="med" len="med"/>
                </a:ln>
              </p:spPr>
            </p:cxnSp>
            <p:sp>
              <p:nvSpPr>
                <p:cNvPr id="2065" name="Text Box 17"/>
                <p:cNvSpPr txBox="1">
                  <a:spLocks noChangeArrowheads="1"/>
                </p:cNvSpPr>
                <p:nvPr/>
              </p:nvSpPr>
              <p:spPr bwMode="auto">
                <a:xfrm>
                  <a:off x="6345" y="6060"/>
                  <a:ext cx="750" cy="352"/>
                </a:xfrm>
                <a:prstGeom prst="rect">
                  <a:avLst/>
                </a:prstGeom>
                <a:solidFill>
                  <a:srgbClr val="FFFFFF"/>
                </a:solid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Times New Roman" pitchFamily="18" charset="0"/>
                      <a:cs typeface="Arial" pitchFamily="34" charset="0"/>
                    </a:rPr>
                    <a:t>Yes</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pSp>
          <p:sp>
            <p:nvSpPr>
              <p:cNvPr id="2066" name="AutoShape 18"/>
              <p:cNvSpPr>
                <a:spLocks noChangeArrowheads="1"/>
              </p:cNvSpPr>
              <p:nvPr/>
            </p:nvSpPr>
            <p:spPr bwMode="auto">
              <a:xfrm>
                <a:off x="5160" y="6472"/>
                <a:ext cx="1950" cy="825"/>
              </a:xfrm>
              <a:prstGeom prst="roundRect">
                <a:avLst>
                  <a:gd name="adj" fmla="val 16667"/>
                </a:avLst>
              </a:prstGeom>
              <a:solidFill>
                <a:srgbClr val="FFFFFF"/>
              </a:solidFill>
              <a:ln w="19050">
                <a:solidFill>
                  <a:srgbClr val="000000"/>
                </a:solidFill>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Times New Roman" pitchFamily="18" charset="0"/>
                    <a:cs typeface="Arial" pitchFamily="34" charset="0"/>
                  </a:rPr>
                  <a:t>Enter Parameter to Prediction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67" name="AutoShape 19"/>
              <p:cNvSpPr>
                <a:spLocks noChangeArrowheads="1"/>
              </p:cNvSpPr>
              <p:nvPr/>
            </p:nvSpPr>
            <p:spPr bwMode="auto">
              <a:xfrm>
                <a:off x="2820" y="6142"/>
                <a:ext cx="1905" cy="1215"/>
              </a:xfrm>
              <a:prstGeom prst="can">
                <a:avLst>
                  <a:gd name="adj" fmla="val 25000"/>
                </a:avLst>
              </a:prstGeom>
              <a:solidFill>
                <a:srgbClr val="FFFFFF"/>
              </a:solidFill>
              <a:ln w="19050">
                <a:solidFill>
                  <a:srgbClr val="000000"/>
                </a:solidFill>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Times New Roman" pitchFamily="18" charset="0"/>
                    <a:cs typeface="Arial" pitchFamily="34" charset="0"/>
                  </a:rPr>
                  <a:t>Pima Indian Diabetes (CSV)</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68" name="Rectangle 20"/>
              <p:cNvSpPr>
                <a:spLocks noChangeArrowheads="1"/>
              </p:cNvSpPr>
              <p:nvPr/>
            </p:nvSpPr>
            <p:spPr bwMode="auto">
              <a:xfrm>
                <a:off x="2805" y="7710"/>
                <a:ext cx="1905" cy="690"/>
              </a:xfrm>
              <a:prstGeom prst="rect">
                <a:avLst/>
              </a:prstGeom>
              <a:solidFill>
                <a:srgbClr val="FFFFFF"/>
              </a:solid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Times New Roman" pitchFamily="18" charset="0"/>
                    <a:cs typeface="Arial" pitchFamily="34" charset="0"/>
                  </a:rPr>
                  <a:t>Data Preprocessing</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69" name="Rectangle 21"/>
              <p:cNvSpPr>
                <a:spLocks noChangeArrowheads="1"/>
              </p:cNvSpPr>
              <p:nvPr/>
            </p:nvSpPr>
            <p:spPr bwMode="auto">
              <a:xfrm>
                <a:off x="2805" y="8745"/>
                <a:ext cx="1905" cy="690"/>
              </a:xfrm>
              <a:prstGeom prst="rect">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Times New Roman" pitchFamily="18" charset="0"/>
                    <a:cs typeface="Arial" pitchFamily="34" charset="0"/>
                  </a:rPr>
                  <a:t>Splitting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Times New Roman" pitchFamily="18" charset="0"/>
                    <a:cs typeface="Arial" pitchFamily="34" charset="0"/>
                  </a:rPr>
                  <a:t>Dataset</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70" name="AutoShape 22"/>
              <p:cNvSpPr>
                <a:spLocks noChangeArrowheads="1"/>
              </p:cNvSpPr>
              <p:nvPr/>
            </p:nvSpPr>
            <p:spPr bwMode="auto">
              <a:xfrm>
                <a:off x="5205" y="8205"/>
                <a:ext cx="1560" cy="825"/>
              </a:xfrm>
              <a:prstGeom prst="roundRect">
                <a:avLst>
                  <a:gd name="adj" fmla="val 16667"/>
                </a:avLst>
              </a:prstGeom>
              <a:solidFill>
                <a:srgbClr val="FFFFFF"/>
              </a:solidFill>
              <a:ln w="19050">
                <a:solidFill>
                  <a:srgbClr val="000000"/>
                </a:solidFill>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Times New Roman" pitchFamily="18" charset="0"/>
                    <a:cs typeface="Arial" pitchFamily="34" charset="0"/>
                  </a:rPr>
                  <a:t>Training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Times New Roman" pitchFamily="18" charset="0"/>
                    <a:cs typeface="Arial" pitchFamily="34" charset="0"/>
                  </a:rPr>
                  <a:t>Data</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71" name="AutoShape 23"/>
              <p:cNvSpPr>
                <a:spLocks noChangeArrowheads="1"/>
              </p:cNvSpPr>
              <p:nvPr/>
            </p:nvSpPr>
            <p:spPr bwMode="auto">
              <a:xfrm>
                <a:off x="5190" y="9360"/>
                <a:ext cx="1560" cy="825"/>
              </a:xfrm>
              <a:prstGeom prst="roundRect">
                <a:avLst>
                  <a:gd name="adj" fmla="val 16667"/>
                </a:avLst>
              </a:prstGeom>
              <a:solidFill>
                <a:srgbClr val="FFFFFF"/>
              </a:solidFill>
              <a:ln w="19050">
                <a:solidFill>
                  <a:srgbClr val="000000"/>
                </a:solidFill>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Times New Roman" pitchFamily="18" charset="0"/>
                    <a:cs typeface="Arial" pitchFamily="34" charset="0"/>
                  </a:rPr>
                  <a:t>Validation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Times New Roman" pitchFamily="18" charset="0"/>
                    <a:cs typeface="Arial" pitchFamily="34" charset="0"/>
                  </a:rPr>
                  <a:t>Data</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72" name="Rectangle 24"/>
              <p:cNvSpPr>
                <a:spLocks noChangeArrowheads="1"/>
              </p:cNvSpPr>
              <p:nvPr/>
            </p:nvSpPr>
            <p:spPr bwMode="auto">
              <a:xfrm>
                <a:off x="7260" y="8805"/>
                <a:ext cx="1575" cy="690"/>
              </a:xfrm>
              <a:prstGeom prst="rect">
                <a:avLst/>
              </a:prstGeom>
              <a:solidFill>
                <a:srgbClr val="FFFFFF"/>
              </a:solidFill>
              <a:ln w="1905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smtClean="0">
                    <a:ln>
                      <a:noFill/>
                    </a:ln>
                    <a:solidFill>
                      <a:schemeClr val="tx1"/>
                    </a:solidFill>
                    <a:effectLst/>
                    <a:latin typeface="Times New Roman" pitchFamily="18" charset="0"/>
                    <a:cs typeface="Arial" pitchFamily="34" charset="0"/>
                  </a:rPr>
                  <a:t>ML-pkl Model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73" name="Rectangle 25"/>
              <p:cNvSpPr>
                <a:spLocks noChangeArrowheads="1"/>
              </p:cNvSpPr>
              <p:nvPr/>
            </p:nvSpPr>
            <p:spPr bwMode="auto">
              <a:xfrm>
                <a:off x="7110" y="9915"/>
                <a:ext cx="1905" cy="690"/>
              </a:xfrm>
              <a:prstGeom prst="rect">
                <a:avLst/>
              </a:prstGeom>
              <a:solidFill>
                <a:srgbClr val="FFFFFF"/>
              </a:solid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smtClean="0">
                    <a:ln>
                      <a:noFill/>
                    </a:ln>
                    <a:solidFill>
                      <a:schemeClr val="tx1"/>
                    </a:solidFill>
                    <a:effectLst/>
                    <a:latin typeface="Times New Roman" pitchFamily="18" charset="0"/>
                    <a:cs typeface="Arial" pitchFamily="34" charset="0"/>
                  </a:rPr>
                  <a:t>Model </a:t>
                </a:r>
              </a:p>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100" b="0" i="0" u="none" strike="noStrike" cap="none" normalizeH="0" baseline="0" smtClean="0">
                    <a:ln>
                      <a:noFill/>
                    </a:ln>
                    <a:solidFill>
                      <a:schemeClr val="tx1"/>
                    </a:solidFill>
                    <a:effectLst/>
                    <a:latin typeface="Times New Roman" pitchFamily="18" charset="0"/>
                    <a:cs typeface="Arial" pitchFamily="34" charset="0"/>
                  </a:rPr>
                  <a:t>Evaluation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74" name="AutoShape 26"/>
              <p:cNvSpPr>
                <a:spLocks noChangeArrowheads="1"/>
              </p:cNvSpPr>
              <p:nvPr/>
            </p:nvSpPr>
            <p:spPr bwMode="auto">
              <a:xfrm>
                <a:off x="5160" y="10785"/>
                <a:ext cx="1950" cy="825"/>
              </a:xfrm>
              <a:prstGeom prst="roundRect">
                <a:avLst>
                  <a:gd name="adj" fmla="val 16667"/>
                </a:avLst>
              </a:prstGeom>
              <a:solidFill>
                <a:srgbClr val="FFFFFF"/>
              </a:solidFill>
              <a:ln w="19050">
                <a:solidFill>
                  <a:srgbClr val="000000"/>
                </a:solidFill>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smtClean="0">
                    <a:ln>
                      <a:noFill/>
                    </a:ln>
                    <a:solidFill>
                      <a:schemeClr val="tx1"/>
                    </a:solidFill>
                    <a:effectLst/>
                    <a:latin typeface="Times New Roman" pitchFamily="18" charset="0"/>
                    <a:cs typeface="Arial" pitchFamily="34" charset="0"/>
                  </a:rPr>
                  <a:t>AI-ML Integration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75" name="AutoShape 27"/>
              <p:cNvSpPr>
                <a:spLocks noChangeArrowheads="1"/>
              </p:cNvSpPr>
              <p:nvPr/>
            </p:nvSpPr>
            <p:spPr bwMode="auto">
              <a:xfrm>
                <a:off x="5160" y="12030"/>
                <a:ext cx="1950" cy="825"/>
              </a:xfrm>
              <a:prstGeom prst="roundRect">
                <a:avLst>
                  <a:gd name="adj" fmla="val 16667"/>
                </a:avLst>
              </a:prstGeom>
              <a:solidFill>
                <a:srgbClr val="FFFFFF"/>
              </a:solidFill>
              <a:ln w="19050">
                <a:solidFill>
                  <a:srgbClr val="000000"/>
                </a:solidFill>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200" b="0" i="0" u="none" strike="noStrike" cap="none" normalizeH="0" baseline="0" smtClean="0">
                    <a:ln>
                      <a:noFill/>
                    </a:ln>
                    <a:solidFill>
                      <a:schemeClr val="tx1"/>
                    </a:solidFill>
                    <a:effectLst/>
                    <a:latin typeface="Times New Roman" pitchFamily="18" charset="0"/>
                    <a:cs typeface="Arial" pitchFamily="34" charset="0"/>
                  </a:rPr>
                  <a:t>Stress Level Prediction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cxnSp>
            <p:nvCxnSpPr>
              <p:cNvPr id="2076" name="AutoShape 28"/>
              <p:cNvCxnSpPr>
                <a:cxnSpLocks noChangeShapeType="1"/>
              </p:cNvCxnSpPr>
              <p:nvPr/>
            </p:nvCxnSpPr>
            <p:spPr bwMode="auto">
              <a:xfrm>
                <a:off x="3780" y="7357"/>
                <a:ext cx="0" cy="353"/>
              </a:xfrm>
              <a:prstGeom prst="straightConnector1">
                <a:avLst/>
              </a:prstGeom>
              <a:noFill/>
              <a:ln w="19050">
                <a:solidFill>
                  <a:srgbClr val="000000"/>
                </a:solidFill>
                <a:round/>
                <a:headEnd/>
                <a:tailEnd type="triangle" w="med" len="med"/>
              </a:ln>
            </p:spPr>
          </p:cxnSp>
          <p:cxnSp>
            <p:nvCxnSpPr>
              <p:cNvPr id="2077" name="AutoShape 29"/>
              <p:cNvCxnSpPr>
                <a:cxnSpLocks noChangeShapeType="1"/>
              </p:cNvCxnSpPr>
              <p:nvPr/>
            </p:nvCxnSpPr>
            <p:spPr bwMode="auto">
              <a:xfrm>
                <a:off x="3780" y="8400"/>
                <a:ext cx="0" cy="353"/>
              </a:xfrm>
              <a:prstGeom prst="straightConnector1">
                <a:avLst/>
              </a:prstGeom>
              <a:noFill/>
              <a:ln w="19050">
                <a:solidFill>
                  <a:srgbClr val="000000"/>
                </a:solidFill>
                <a:round/>
                <a:headEnd/>
                <a:tailEnd type="triangle" w="med" len="med"/>
              </a:ln>
            </p:spPr>
          </p:cxnSp>
          <p:cxnSp>
            <p:nvCxnSpPr>
              <p:cNvPr id="2078" name="AutoShape 30"/>
              <p:cNvCxnSpPr>
                <a:cxnSpLocks noChangeShapeType="1"/>
              </p:cNvCxnSpPr>
              <p:nvPr/>
            </p:nvCxnSpPr>
            <p:spPr bwMode="auto">
              <a:xfrm>
                <a:off x="4935" y="8595"/>
                <a:ext cx="0" cy="1170"/>
              </a:xfrm>
              <a:prstGeom prst="straightConnector1">
                <a:avLst/>
              </a:prstGeom>
              <a:noFill/>
              <a:ln w="19050">
                <a:solidFill>
                  <a:srgbClr val="000000"/>
                </a:solidFill>
                <a:round/>
                <a:headEnd/>
                <a:tailEnd/>
              </a:ln>
            </p:spPr>
          </p:cxnSp>
          <p:cxnSp>
            <p:nvCxnSpPr>
              <p:cNvPr id="2079" name="AutoShape 31"/>
              <p:cNvCxnSpPr>
                <a:cxnSpLocks noChangeShapeType="1"/>
              </p:cNvCxnSpPr>
              <p:nvPr/>
            </p:nvCxnSpPr>
            <p:spPr bwMode="auto">
              <a:xfrm>
                <a:off x="4710" y="9150"/>
                <a:ext cx="225" cy="0"/>
              </a:xfrm>
              <a:prstGeom prst="straightConnector1">
                <a:avLst/>
              </a:prstGeom>
              <a:noFill/>
              <a:ln w="19050">
                <a:solidFill>
                  <a:srgbClr val="000000"/>
                </a:solidFill>
                <a:round/>
                <a:headEnd/>
                <a:tailEnd/>
              </a:ln>
            </p:spPr>
          </p:cxnSp>
          <p:cxnSp>
            <p:nvCxnSpPr>
              <p:cNvPr id="2080" name="AutoShape 32"/>
              <p:cNvCxnSpPr>
                <a:cxnSpLocks noChangeShapeType="1"/>
              </p:cNvCxnSpPr>
              <p:nvPr/>
            </p:nvCxnSpPr>
            <p:spPr bwMode="auto">
              <a:xfrm>
                <a:off x="4935" y="8610"/>
                <a:ext cx="286" cy="0"/>
              </a:xfrm>
              <a:prstGeom prst="straightConnector1">
                <a:avLst/>
              </a:prstGeom>
              <a:noFill/>
              <a:ln w="19050">
                <a:solidFill>
                  <a:srgbClr val="000000"/>
                </a:solidFill>
                <a:round/>
                <a:headEnd/>
                <a:tailEnd type="triangle" w="med" len="med"/>
              </a:ln>
            </p:spPr>
          </p:cxnSp>
          <p:cxnSp>
            <p:nvCxnSpPr>
              <p:cNvPr id="2081" name="AutoShape 33"/>
              <p:cNvCxnSpPr>
                <a:cxnSpLocks noChangeShapeType="1"/>
              </p:cNvCxnSpPr>
              <p:nvPr/>
            </p:nvCxnSpPr>
            <p:spPr bwMode="auto">
              <a:xfrm>
                <a:off x="4919" y="9765"/>
                <a:ext cx="286" cy="0"/>
              </a:xfrm>
              <a:prstGeom prst="straightConnector1">
                <a:avLst/>
              </a:prstGeom>
              <a:noFill/>
              <a:ln w="19050">
                <a:solidFill>
                  <a:srgbClr val="000000"/>
                </a:solidFill>
                <a:round/>
                <a:headEnd/>
                <a:tailEnd type="triangle" w="med" len="med"/>
              </a:ln>
            </p:spPr>
          </p:cxnSp>
          <p:cxnSp>
            <p:nvCxnSpPr>
              <p:cNvPr id="2082" name="AutoShape 34"/>
              <p:cNvCxnSpPr>
                <a:cxnSpLocks noChangeShapeType="1"/>
              </p:cNvCxnSpPr>
              <p:nvPr/>
            </p:nvCxnSpPr>
            <p:spPr bwMode="auto">
              <a:xfrm>
                <a:off x="6990" y="8625"/>
                <a:ext cx="0" cy="1170"/>
              </a:xfrm>
              <a:prstGeom prst="straightConnector1">
                <a:avLst/>
              </a:prstGeom>
              <a:noFill/>
              <a:ln w="19050">
                <a:solidFill>
                  <a:srgbClr val="000000"/>
                </a:solidFill>
                <a:round/>
                <a:headEnd/>
                <a:tailEnd/>
              </a:ln>
            </p:spPr>
          </p:cxnSp>
          <p:cxnSp>
            <p:nvCxnSpPr>
              <p:cNvPr id="2083" name="AutoShape 35"/>
              <p:cNvCxnSpPr>
                <a:cxnSpLocks noChangeShapeType="1"/>
              </p:cNvCxnSpPr>
              <p:nvPr/>
            </p:nvCxnSpPr>
            <p:spPr bwMode="auto">
              <a:xfrm>
                <a:off x="6780" y="8625"/>
                <a:ext cx="225" cy="0"/>
              </a:xfrm>
              <a:prstGeom prst="straightConnector1">
                <a:avLst/>
              </a:prstGeom>
              <a:noFill/>
              <a:ln w="19050">
                <a:solidFill>
                  <a:srgbClr val="000000"/>
                </a:solidFill>
                <a:round/>
                <a:headEnd/>
                <a:tailEnd/>
              </a:ln>
            </p:spPr>
          </p:cxnSp>
          <p:cxnSp>
            <p:nvCxnSpPr>
              <p:cNvPr id="2084" name="AutoShape 36"/>
              <p:cNvCxnSpPr>
                <a:cxnSpLocks noChangeShapeType="1"/>
              </p:cNvCxnSpPr>
              <p:nvPr/>
            </p:nvCxnSpPr>
            <p:spPr bwMode="auto">
              <a:xfrm>
                <a:off x="6765" y="9780"/>
                <a:ext cx="225" cy="0"/>
              </a:xfrm>
              <a:prstGeom prst="straightConnector1">
                <a:avLst/>
              </a:prstGeom>
              <a:noFill/>
              <a:ln w="19050">
                <a:solidFill>
                  <a:srgbClr val="000000"/>
                </a:solidFill>
                <a:round/>
                <a:headEnd/>
                <a:tailEnd/>
              </a:ln>
            </p:spPr>
          </p:cxnSp>
          <p:cxnSp>
            <p:nvCxnSpPr>
              <p:cNvPr id="2085" name="AutoShape 37"/>
              <p:cNvCxnSpPr>
                <a:cxnSpLocks noChangeShapeType="1"/>
              </p:cNvCxnSpPr>
              <p:nvPr/>
            </p:nvCxnSpPr>
            <p:spPr bwMode="auto">
              <a:xfrm>
                <a:off x="6990" y="9150"/>
                <a:ext cx="286" cy="0"/>
              </a:xfrm>
              <a:prstGeom prst="straightConnector1">
                <a:avLst/>
              </a:prstGeom>
              <a:noFill/>
              <a:ln w="19050">
                <a:solidFill>
                  <a:srgbClr val="000000"/>
                </a:solidFill>
                <a:round/>
                <a:headEnd/>
                <a:tailEnd type="triangle" w="med" len="med"/>
              </a:ln>
            </p:spPr>
          </p:cxnSp>
          <p:cxnSp>
            <p:nvCxnSpPr>
              <p:cNvPr id="2086" name="AutoShape 38"/>
              <p:cNvCxnSpPr>
                <a:cxnSpLocks noChangeShapeType="1"/>
              </p:cNvCxnSpPr>
              <p:nvPr/>
            </p:nvCxnSpPr>
            <p:spPr bwMode="auto">
              <a:xfrm>
                <a:off x="7095" y="6885"/>
                <a:ext cx="945" cy="0"/>
              </a:xfrm>
              <a:prstGeom prst="straightConnector1">
                <a:avLst/>
              </a:prstGeom>
              <a:noFill/>
              <a:ln w="19050">
                <a:solidFill>
                  <a:srgbClr val="000000"/>
                </a:solidFill>
                <a:round/>
                <a:headEnd/>
                <a:tailEnd/>
              </a:ln>
            </p:spPr>
          </p:cxnSp>
          <p:cxnSp>
            <p:nvCxnSpPr>
              <p:cNvPr id="2087" name="AutoShape 39"/>
              <p:cNvCxnSpPr>
                <a:cxnSpLocks noChangeShapeType="1"/>
              </p:cNvCxnSpPr>
              <p:nvPr/>
            </p:nvCxnSpPr>
            <p:spPr bwMode="auto">
              <a:xfrm>
                <a:off x="8040" y="6885"/>
                <a:ext cx="0" cy="1920"/>
              </a:xfrm>
              <a:prstGeom prst="straightConnector1">
                <a:avLst/>
              </a:prstGeom>
              <a:noFill/>
              <a:ln w="19050">
                <a:solidFill>
                  <a:srgbClr val="000000"/>
                </a:solidFill>
                <a:round/>
                <a:headEnd/>
                <a:tailEnd type="triangle" w="med" len="med"/>
              </a:ln>
            </p:spPr>
          </p:cxnSp>
          <p:cxnSp>
            <p:nvCxnSpPr>
              <p:cNvPr id="2088" name="AutoShape 40"/>
              <p:cNvCxnSpPr>
                <a:cxnSpLocks noChangeShapeType="1"/>
              </p:cNvCxnSpPr>
              <p:nvPr/>
            </p:nvCxnSpPr>
            <p:spPr bwMode="auto">
              <a:xfrm>
                <a:off x="8040" y="9495"/>
                <a:ext cx="0" cy="420"/>
              </a:xfrm>
              <a:prstGeom prst="straightConnector1">
                <a:avLst/>
              </a:prstGeom>
              <a:noFill/>
              <a:ln w="19050">
                <a:solidFill>
                  <a:srgbClr val="000000"/>
                </a:solidFill>
                <a:round/>
                <a:headEnd/>
                <a:tailEnd type="triangle" w="med" len="med"/>
              </a:ln>
            </p:spPr>
          </p:cxnSp>
          <p:cxnSp>
            <p:nvCxnSpPr>
              <p:cNvPr id="2089" name="AutoShape 41"/>
              <p:cNvCxnSpPr>
                <a:cxnSpLocks noChangeShapeType="1"/>
              </p:cNvCxnSpPr>
              <p:nvPr/>
            </p:nvCxnSpPr>
            <p:spPr bwMode="auto">
              <a:xfrm>
                <a:off x="8040" y="10605"/>
                <a:ext cx="0" cy="645"/>
              </a:xfrm>
              <a:prstGeom prst="straightConnector1">
                <a:avLst/>
              </a:prstGeom>
              <a:noFill/>
              <a:ln w="19050">
                <a:solidFill>
                  <a:srgbClr val="000000"/>
                </a:solidFill>
                <a:round/>
                <a:headEnd/>
                <a:tailEnd/>
              </a:ln>
            </p:spPr>
          </p:cxnSp>
          <p:cxnSp>
            <p:nvCxnSpPr>
              <p:cNvPr id="2090" name="AutoShape 42"/>
              <p:cNvCxnSpPr>
                <a:cxnSpLocks noChangeShapeType="1"/>
              </p:cNvCxnSpPr>
              <p:nvPr/>
            </p:nvCxnSpPr>
            <p:spPr bwMode="auto">
              <a:xfrm flipH="1">
                <a:off x="7110" y="11235"/>
                <a:ext cx="929" cy="0"/>
              </a:xfrm>
              <a:prstGeom prst="straightConnector1">
                <a:avLst/>
              </a:prstGeom>
              <a:noFill/>
              <a:ln w="19050">
                <a:solidFill>
                  <a:srgbClr val="000000"/>
                </a:solidFill>
                <a:round/>
                <a:headEnd/>
                <a:tailEnd type="triangle" w="med" len="med"/>
              </a:ln>
            </p:spPr>
          </p:cxnSp>
          <p:cxnSp>
            <p:nvCxnSpPr>
              <p:cNvPr id="2091" name="AutoShape 43"/>
              <p:cNvCxnSpPr>
                <a:cxnSpLocks noChangeShapeType="1"/>
              </p:cNvCxnSpPr>
              <p:nvPr/>
            </p:nvCxnSpPr>
            <p:spPr bwMode="auto">
              <a:xfrm>
                <a:off x="6150" y="11610"/>
                <a:ext cx="0" cy="420"/>
              </a:xfrm>
              <a:prstGeom prst="straightConnector1">
                <a:avLst/>
              </a:prstGeom>
              <a:noFill/>
              <a:ln w="19050">
                <a:solidFill>
                  <a:srgbClr val="000000"/>
                </a:solidFill>
                <a:round/>
                <a:headEnd/>
                <a:tailEnd type="triangle" w="med" len="med"/>
              </a:ln>
            </p:spPr>
          </p:cxnSp>
          <p:cxnSp>
            <p:nvCxnSpPr>
              <p:cNvPr id="2092" name="AutoShape 44"/>
              <p:cNvCxnSpPr>
                <a:cxnSpLocks noChangeShapeType="1"/>
              </p:cNvCxnSpPr>
              <p:nvPr/>
            </p:nvCxnSpPr>
            <p:spPr bwMode="auto">
              <a:xfrm>
                <a:off x="6150" y="12855"/>
                <a:ext cx="0" cy="420"/>
              </a:xfrm>
              <a:prstGeom prst="straightConnector1">
                <a:avLst/>
              </a:prstGeom>
              <a:noFill/>
              <a:ln w="19050">
                <a:solidFill>
                  <a:srgbClr val="000000"/>
                </a:solidFill>
                <a:round/>
                <a:headEnd/>
                <a:tailEnd type="triangle" w="med" len="med"/>
              </a:ln>
            </p:spPr>
          </p:cxnSp>
        </p:grpSp>
        <p:cxnSp>
          <p:nvCxnSpPr>
            <p:cNvPr id="2093" name="AutoShape 45"/>
            <p:cNvCxnSpPr>
              <a:cxnSpLocks noChangeShapeType="1"/>
            </p:cNvCxnSpPr>
            <p:nvPr/>
          </p:nvCxnSpPr>
          <p:spPr bwMode="auto">
            <a:xfrm flipH="1">
              <a:off x="3765" y="3480"/>
              <a:ext cx="2385" cy="0"/>
            </a:xfrm>
            <a:prstGeom prst="straightConnector1">
              <a:avLst/>
            </a:prstGeom>
            <a:noFill/>
            <a:ln w="19050">
              <a:solidFill>
                <a:srgbClr val="000000"/>
              </a:solidFill>
              <a:round/>
              <a:headEnd/>
              <a:tailEnd/>
            </a:ln>
          </p:spPr>
        </p:cxnSp>
        <p:cxnSp>
          <p:nvCxnSpPr>
            <p:cNvPr id="2094" name="AutoShape 46"/>
            <p:cNvCxnSpPr>
              <a:cxnSpLocks noChangeShapeType="1"/>
            </p:cNvCxnSpPr>
            <p:nvPr/>
          </p:nvCxnSpPr>
          <p:spPr bwMode="auto">
            <a:xfrm>
              <a:off x="3765" y="3480"/>
              <a:ext cx="0" cy="2662"/>
            </a:xfrm>
            <a:prstGeom prst="straightConnector1">
              <a:avLst/>
            </a:prstGeom>
            <a:noFill/>
            <a:ln w="19050">
              <a:solidFill>
                <a:srgbClr val="000000"/>
              </a:solidFill>
              <a:round/>
              <a:headEnd/>
              <a:tailEnd type="triangle" w="med" len="med"/>
            </a:ln>
          </p:spPr>
        </p:cxn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667000"/>
            <a:ext cx="7498080" cy="1143000"/>
          </a:xfrm>
        </p:spPr>
        <p:txBody>
          <a:bodyPr>
            <a:normAutofit/>
          </a:bodyPr>
          <a:lstStyle/>
          <a:p>
            <a:pPr algn="ctr"/>
            <a:r>
              <a:rPr lang="en-US" sz="3000" b="1" dirty="0" smtClean="0">
                <a:effectLst/>
                <a:latin typeface="Times New Roman" pitchFamily="18" charset="0"/>
                <a:cs typeface="Times New Roman" pitchFamily="18" charset="0"/>
              </a:rPr>
              <a:t>SCREEN SHOTS</a:t>
            </a:r>
            <a:endParaRPr lang="en-US" sz="3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500" b="1" dirty="0" smtClean="0">
                <a:effectLst/>
                <a:latin typeface="Times New Roman" pitchFamily="18" charset="0"/>
                <a:cs typeface="Times New Roman" pitchFamily="18" charset="0"/>
              </a:rPr>
              <a:t>Run Flask Server CMD</a:t>
            </a:r>
            <a:endParaRPr lang="en-US" sz="2500" b="1" dirty="0">
              <a:effectLst/>
              <a:latin typeface="Times New Roman" pitchFamily="18" charset="0"/>
              <a:cs typeface="Times New Roman" pitchFamily="18" charset="0"/>
            </a:endParaRPr>
          </a:p>
        </p:txBody>
      </p:sp>
      <p:pic>
        <p:nvPicPr>
          <p:cNvPr id="4" name="Content Placeholder 3"/>
          <p:cNvPicPr>
            <a:picLocks noGrp="1"/>
          </p:cNvPicPr>
          <p:nvPr>
            <p:ph idx="1"/>
          </p:nvPr>
        </p:nvPicPr>
        <p:blipFill>
          <a:blip r:embed="rId2"/>
          <a:srcRect/>
          <a:stretch>
            <a:fillRect/>
          </a:stretch>
        </p:blipFill>
        <p:spPr bwMode="auto">
          <a:xfrm>
            <a:off x="1435100" y="1849737"/>
            <a:ext cx="7499350" cy="399672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500" b="1" dirty="0" smtClean="0">
                <a:effectLst/>
                <a:latin typeface="Times New Roman" pitchFamily="18" charset="0"/>
                <a:cs typeface="Times New Roman" pitchFamily="18" charset="0"/>
              </a:rPr>
              <a:t>View Web Host Link</a:t>
            </a:r>
            <a:endParaRPr lang="en-US" sz="2500" b="1" dirty="0">
              <a:effectLst/>
              <a:latin typeface="Times New Roman" pitchFamily="18" charset="0"/>
              <a:cs typeface="Times New Roman" pitchFamily="18" charset="0"/>
            </a:endParaRPr>
          </a:p>
        </p:txBody>
      </p:sp>
      <p:pic>
        <p:nvPicPr>
          <p:cNvPr id="4" name="Content Placeholder 3"/>
          <p:cNvPicPr>
            <a:picLocks noGrp="1"/>
          </p:cNvPicPr>
          <p:nvPr>
            <p:ph idx="1"/>
          </p:nvPr>
        </p:nvPicPr>
        <p:blipFill>
          <a:blip r:embed="rId2"/>
          <a:srcRect/>
          <a:stretch>
            <a:fillRect/>
          </a:stretch>
        </p:blipFill>
        <p:spPr bwMode="auto">
          <a:xfrm>
            <a:off x="1435100" y="1849737"/>
            <a:ext cx="7499350" cy="399672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0"/>
            <a:ext cx="7498080" cy="1143000"/>
          </a:xfrm>
        </p:spPr>
        <p:txBody>
          <a:bodyPr>
            <a:normAutofit/>
          </a:bodyPr>
          <a:lstStyle/>
          <a:p>
            <a:pPr lvl="0" algn="ctr"/>
            <a:r>
              <a:rPr lang="en-US" sz="2500" b="1" dirty="0" smtClean="0">
                <a:effectLst/>
                <a:latin typeface="Times New Roman" pitchFamily="18" charset="0"/>
                <a:cs typeface="Times New Roman" pitchFamily="18" charset="0"/>
              </a:rPr>
              <a:t>Main Page</a:t>
            </a:r>
            <a:r>
              <a:rPr lang="en-US" sz="2500" dirty="0" smtClean="0">
                <a:effectLst/>
                <a:latin typeface="Times New Roman" pitchFamily="18" charset="0"/>
                <a:cs typeface="Times New Roman" pitchFamily="18" charset="0"/>
              </a:rPr>
              <a:t/>
            </a:r>
            <a:br>
              <a:rPr lang="en-US" sz="2500" dirty="0" smtClean="0">
                <a:effectLst/>
                <a:latin typeface="Times New Roman" pitchFamily="18" charset="0"/>
                <a:cs typeface="Times New Roman" pitchFamily="18" charset="0"/>
              </a:rPr>
            </a:br>
            <a:endParaRPr lang="en-US" sz="2500" dirty="0">
              <a:effectLst/>
              <a:latin typeface="Times New Roman" pitchFamily="18" charset="0"/>
              <a:cs typeface="Times New Roman" pitchFamily="18" charset="0"/>
            </a:endParaRPr>
          </a:p>
        </p:txBody>
      </p:sp>
      <p:pic>
        <p:nvPicPr>
          <p:cNvPr id="55" name="Content Placeholder 54"/>
          <p:cNvPicPr>
            <a:picLocks noGrp="1"/>
          </p:cNvPicPr>
          <p:nvPr>
            <p:ph idx="1"/>
          </p:nvPr>
        </p:nvPicPr>
        <p:blipFill>
          <a:blip r:embed="rId2"/>
          <a:srcRect/>
          <a:stretch>
            <a:fillRect/>
          </a:stretch>
        </p:blipFill>
        <p:spPr bwMode="auto">
          <a:xfrm>
            <a:off x="1435100" y="1849737"/>
            <a:ext cx="7499350" cy="399672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0"/>
            <a:ext cx="7498080" cy="1143000"/>
          </a:xfrm>
        </p:spPr>
        <p:txBody>
          <a:bodyPr>
            <a:normAutofit/>
          </a:bodyPr>
          <a:lstStyle/>
          <a:p>
            <a:pPr algn="ctr"/>
            <a:r>
              <a:rPr lang="en-US" sz="2500" b="1" dirty="0" smtClean="0">
                <a:effectLst/>
                <a:latin typeface="Times New Roman" pitchFamily="18" charset="0"/>
                <a:cs typeface="Times New Roman" pitchFamily="18" charset="0"/>
              </a:rPr>
              <a:t>Type Stress Prediction</a:t>
            </a:r>
            <a:endParaRPr lang="en-US" sz="2500" dirty="0">
              <a:effectLst/>
              <a:latin typeface="Times New Roman" pitchFamily="18" charset="0"/>
              <a:cs typeface="Times New Roman" pitchFamily="18" charset="0"/>
            </a:endParaRPr>
          </a:p>
        </p:txBody>
      </p:sp>
      <p:pic>
        <p:nvPicPr>
          <p:cNvPr id="6" name="Content Placeholder 5"/>
          <p:cNvPicPr>
            <a:picLocks noGrp="1"/>
          </p:cNvPicPr>
          <p:nvPr>
            <p:ph idx="1"/>
          </p:nvPr>
        </p:nvPicPr>
        <p:blipFill>
          <a:blip r:embed="rId2"/>
          <a:srcRect/>
          <a:stretch>
            <a:fillRect/>
          </a:stretch>
        </p:blipFill>
        <p:spPr bwMode="auto">
          <a:xfrm>
            <a:off x="1435100" y="1849737"/>
            <a:ext cx="7499350" cy="399672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0"/>
            <a:ext cx="7498080" cy="1143000"/>
          </a:xfrm>
        </p:spPr>
        <p:txBody>
          <a:bodyPr>
            <a:normAutofit/>
          </a:bodyPr>
          <a:lstStyle/>
          <a:p>
            <a:pPr algn="ctr"/>
            <a:r>
              <a:rPr lang="en-US" sz="2500" b="1" dirty="0" smtClean="0">
                <a:effectLst/>
                <a:latin typeface="Times New Roman" pitchFamily="18" charset="0"/>
                <a:cs typeface="Times New Roman" pitchFamily="18" charset="0"/>
              </a:rPr>
              <a:t>Doctor Login</a:t>
            </a:r>
            <a:endParaRPr lang="en-US" sz="2500" dirty="0">
              <a:effectLst/>
              <a:latin typeface="Times New Roman" pitchFamily="18" charset="0"/>
              <a:cs typeface="Times New Roman" pitchFamily="18" charset="0"/>
            </a:endParaRPr>
          </a:p>
        </p:txBody>
      </p:sp>
      <p:pic>
        <p:nvPicPr>
          <p:cNvPr id="6" name="Content Placeholder 5"/>
          <p:cNvPicPr>
            <a:picLocks noGrp="1"/>
          </p:cNvPicPr>
          <p:nvPr>
            <p:ph idx="1"/>
          </p:nvPr>
        </p:nvPicPr>
        <p:blipFill>
          <a:blip r:embed="rId2"/>
          <a:srcRect/>
          <a:stretch>
            <a:fillRect/>
          </a:stretch>
        </p:blipFill>
        <p:spPr bwMode="auto">
          <a:xfrm>
            <a:off x="1435100" y="1849737"/>
            <a:ext cx="7499350" cy="3996725"/>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0"/>
            <a:ext cx="7498080" cy="1143000"/>
          </a:xfrm>
        </p:spPr>
        <p:txBody>
          <a:bodyPr>
            <a:normAutofit/>
          </a:bodyPr>
          <a:lstStyle/>
          <a:p>
            <a:pPr algn="ctr"/>
            <a:r>
              <a:rPr lang="en-US" sz="2500" b="1" dirty="0" smtClean="0">
                <a:effectLst/>
                <a:latin typeface="Times New Roman" pitchFamily="18" charset="0"/>
                <a:cs typeface="Times New Roman" pitchFamily="18" charset="0"/>
              </a:rPr>
              <a:t>Dashboard Page</a:t>
            </a:r>
            <a:endParaRPr lang="en-US" sz="2500" dirty="0">
              <a:effectLst/>
              <a:latin typeface="Times New Roman" pitchFamily="18" charset="0"/>
              <a:cs typeface="Times New Roman" pitchFamily="18" charset="0"/>
            </a:endParaRPr>
          </a:p>
        </p:txBody>
      </p:sp>
      <p:pic>
        <p:nvPicPr>
          <p:cNvPr id="6" name="Content Placeholder 5"/>
          <p:cNvPicPr>
            <a:picLocks noGrp="1"/>
          </p:cNvPicPr>
          <p:nvPr>
            <p:ph idx="1"/>
          </p:nvPr>
        </p:nvPicPr>
        <p:blipFill>
          <a:blip r:embed="rId2"/>
          <a:srcRect/>
          <a:stretch>
            <a:fillRect/>
          </a:stretch>
        </p:blipFill>
        <p:spPr bwMode="auto">
          <a:xfrm>
            <a:off x="1435100" y="1849737"/>
            <a:ext cx="7499350" cy="399672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500" b="1" dirty="0" smtClean="0">
                <a:effectLst/>
                <a:latin typeface="Times New Roman" pitchFamily="18" charset="0"/>
                <a:cs typeface="Times New Roman" pitchFamily="18" charset="0"/>
              </a:rPr>
              <a:t>EDA Analysis</a:t>
            </a:r>
            <a:endParaRPr lang="en-US" sz="2500" b="1" dirty="0">
              <a:effectLst/>
              <a:latin typeface="Times New Roman" pitchFamily="18" charset="0"/>
              <a:cs typeface="Times New Roman" pitchFamily="18" charset="0"/>
            </a:endParaRPr>
          </a:p>
        </p:txBody>
      </p:sp>
      <p:pic>
        <p:nvPicPr>
          <p:cNvPr id="4" name="Content Placeholder 3"/>
          <p:cNvPicPr>
            <a:picLocks noGrp="1"/>
          </p:cNvPicPr>
          <p:nvPr>
            <p:ph idx="1"/>
          </p:nvPr>
        </p:nvPicPr>
        <p:blipFill>
          <a:blip r:embed="rId2"/>
          <a:srcRect/>
          <a:stretch>
            <a:fillRect/>
          </a:stretch>
        </p:blipFill>
        <p:spPr bwMode="auto">
          <a:xfrm>
            <a:off x="1435100" y="1849737"/>
            <a:ext cx="7499350" cy="3996725"/>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500" b="1" dirty="0" smtClean="0">
                <a:effectLst/>
                <a:latin typeface="Times New Roman" pitchFamily="18" charset="0"/>
                <a:cs typeface="Times New Roman" pitchFamily="18" charset="0"/>
              </a:rPr>
              <a:t>Diabetic Distress Prediction</a:t>
            </a:r>
            <a:endParaRPr lang="en-US" sz="2500" b="1" dirty="0">
              <a:effectLst/>
              <a:latin typeface="Times New Roman" pitchFamily="18" charset="0"/>
              <a:cs typeface="Times New Roman" pitchFamily="18" charset="0"/>
            </a:endParaRPr>
          </a:p>
        </p:txBody>
      </p:sp>
      <p:pic>
        <p:nvPicPr>
          <p:cNvPr id="4" name="Content Placeholder 3"/>
          <p:cNvPicPr>
            <a:picLocks noGrp="1"/>
          </p:cNvPicPr>
          <p:nvPr>
            <p:ph idx="1"/>
          </p:nvPr>
        </p:nvPicPr>
        <p:blipFill>
          <a:blip r:embed="rId2"/>
          <a:srcRect/>
          <a:stretch>
            <a:fillRect/>
          </a:stretch>
        </p:blipFill>
        <p:spPr bwMode="auto">
          <a:xfrm>
            <a:off x="1435100" y="1849737"/>
            <a:ext cx="7499350" cy="3996725"/>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500" b="1" dirty="0" smtClean="0">
                <a:effectLst/>
                <a:latin typeface="Times New Roman" pitchFamily="18" charset="0"/>
                <a:cs typeface="Times New Roman" pitchFamily="18" charset="0"/>
              </a:rPr>
              <a:t>Result Prediction</a:t>
            </a:r>
            <a:endParaRPr lang="en-US" sz="2500" b="1" dirty="0">
              <a:effectLst/>
              <a:latin typeface="Times New Roman" pitchFamily="18" charset="0"/>
              <a:cs typeface="Times New Roman" pitchFamily="18" charset="0"/>
            </a:endParaRPr>
          </a:p>
        </p:txBody>
      </p:sp>
      <p:pic>
        <p:nvPicPr>
          <p:cNvPr id="4" name="Content Placeholder 3"/>
          <p:cNvPicPr>
            <a:picLocks noGrp="1"/>
          </p:cNvPicPr>
          <p:nvPr>
            <p:ph idx="1"/>
          </p:nvPr>
        </p:nvPicPr>
        <p:blipFill>
          <a:blip r:embed="rId2"/>
          <a:srcRect/>
          <a:stretch>
            <a:fillRect/>
          </a:stretch>
        </p:blipFill>
        <p:spPr bwMode="auto">
          <a:xfrm>
            <a:off x="1435100" y="1849737"/>
            <a:ext cx="7499350" cy="3996725"/>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76200"/>
            <a:ext cx="7498080" cy="914400"/>
          </a:xfrm>
        </p:spPr>
        <p:txBody>
          <a:bodyPr>
            <a:normAutofit/>
          </a:bodyPr>
          <a:lstStyle/>
          <a:p>
            <a:pPr algn="ctr"/>
            <a:r>
              <a:rPr lang="en-US" sz="2500" b="1" dirty="0" smtClean="0">
                <a:effectLst/>
                <a:latin typeface="Times New Roman" pitchFamily="18" charset="0"/>
                <a:cs typeface="Times New Roman" pitchFamily="18" charset="0"/>
              </a:rPr>
              <a:t>CONCLUSION</a:t>
            </a:r>
            <a:endParaRPr lang="en-US" sz="2500" b="1" dirty="0">
              <a:effectLst/>
              <a:latin typeface="Times New Roman" pitchFamily="18" charset="0"/>
              <a:cs typeface="Times New Roman" pitchFamily="18" charset="0"/>
            </a:endParaRPr>
          </a:p>
        </p:txBody>
      </p:sp>
      <p:sp>
        <p:nvSpPr>
          <p:cNvPr id="3" name="Content Placeholder 2"/>
          <p:cNvSpPr>
            <a:spLocks noGrp="1"/>
          </p:cNvSpPr>
          <p:nvPr>
            <p:ph idx="1"/>
          </p:nvPr>
        </p:nvSpPr>
        <p:spPr>
          <a:xfrm>
            <a:off x="1435608" y="1066800"/>
            <a:ext cx="7498080" cy="5181600"/>
          </a:xfrm>
        </p:spPr>
        <p:txBody>
          <a:bodyPr>
            <a:normAutofit lnSpcReduction="10000"/>
          </a:bodyPr>
          <a:lstStyle/>
          <a:p>
            <a:pPr algn="just">
              <a:lnSpc>
                <a:spcPct val="150000"/>
              </a:lnSpc>
            </a:pPr>
            <a:r>
              <a:rPr lang="en-GB" sz="2000" dirty="0" smtClean="0">
                <a:latin typeface="Times New Roman" pitchFamily="18" charset="0"/>
                <a:cs typeface="Times New Roman" pitchFamily="18" charset="0"/>
              </a:rPr>
              <a:t>A multimodal Machine Learning framework, by integrating demographic, clinical, and psychological features, can accurately and transparently predict diabetic distress in patients with Type-2 Diabetes Mellitus. </a:t>
            </a:r>
          </a:p>
          <a:p>
            <a:pPr algn="just">
              <a:lnSpc>
                <a:spcPct val="150000"/>
              </a:lnSpc>
            </a:pPr>
            <a:r>
              <a:rPr lang="en-GB" sz="2000" dirty="0" smtClean="0">
                <a:latin typeface="Times New Roman" pitchFamily="18" charset="0"/>
                <a:cs typeface="Times New Roman" pitchFamily="18" charset="0"/>
              </a:rPr>
              <a:t>Among all evaluated classifiers, Extreme Gradient Boosting coupled with </a:t>
            </a:r>
            <a:r>
              <a:rPr lang="en-GB" sz="2000" dirty="0" err="1" smtClean="0">
                <a:latin typeface="Times New Roman" pitchFamily="18" charset="0"/>
                <a:cs typeface="Times New Roman" pitchFamily="18" charset="0"/>
              </a:rPr>
              <a:t>SHapley</a:t>
            </a:r>
            <a:r>
              <a:rPr lang="en-GB" sz="2000" dirty="0" smtClean="0">
                <a:latin typeface="Times New Roman" pitchFamily="18" charset="0"/>
                <a:cs typeface="Times New Roman" pitchFamily="18" charset="0"/>
              </a:rPr>
              <a:t> Additive explanations achieved the highest performance, with a classification accuracy of 96.14%, an F1-score of 0.95, and an area under the ROC curve of 0.98, while providing feature-level insights that highlight fasting blood sugar, emotional </a:t>
            </a:r>
            <a:r>
              <a:rPr lang="en-GB" sz="2000" smtClean="0">
                <a:latin typeface="Times New Roman" pitchFamily="18" charset="0"/>
                <a:cs typeface="Times New Roman" pitchFamily="18" charset="0"/>
              </a:rPr>
              <a:t>bur den </a:t>
            </a:r>
            <a:r>
              <a:rPr lang="en-GB" sz="2000" dirty="0" smtClean="0">
                <a:latin typeface="Times New Roman" pitchFamily="18" charset="0"/>
                <a:cs typeface="Times New Roman" pitchFamily="18" charset="0"/>
              </a:rPr>
              <a:t>and physician-related distress as the most influential predictors.</a:t>
            </a:r>
            <a:endParaRPr lang="en-US" sz="2000"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500" b="1" dirty="0" smtClean="0">
                <a:effectLst/>
                <a:latin typeface="Times New Roman" pitchFamily="18" charset="0"/>
                <a:cs typeface="Times New Roman" pitchFamily="18" charset="0"/>
              </a:rPr>
              <a:t>FUTURE WORK</a:t>
            </a:r>
            <a:endParaRPr lang="en-US" sz="2500" b="1" dirty="0">
              <a:effectLst/>
              <a:latin typeface="Times New Roman" pitchFamily="18" charset="0"/>
              <a:cs typeface="Times New Roman" pitchFamily="18" charset="0"/>
            </a:endParaRPr>
          </a:p>
        </p:txBody>
      </p:sp>
      <p:sp>
        <p:nvSpPr>
          <p:cNvPr id="3" name="Content Placeholder 2"/>
          <p:cNvSpPr>
            <a:spLocks noGrp="1"/>
          </p:cNvSpPr>
          <p:nvPr>
            <p:ph idx="1"/>
          </p:nvPr>
        </p:nvSpPr>
        <p:spPr>
          <a:xfrm>
            <a:off x="1435608" y="1447800"/>
            <a:ext cx="7498080" cy="5029200"/>
          </a:xfrm>
        </p:spPr>
        <p:txBody>
          <a:bodyPr>
            <a:normAutofit lnSpcReduction="10000"/>
          </a:bodyPr>
          <a:lstStyle/>
          <a:p>
            <a:pPr algn="just">
              <a:lnSpc>
                <a:spcPct val="150000"/>
              </a:lnSpc>
            </a:pPr>
            <a:r>
              <a:rPr lang="en-GB" sz="2000" dirty="0" smtClean="0">
                <a:latin typeface="Times New Roman" pitchFamily="18" charset="0"/>
                <a:cs typeface="Times New Roman" pitchFamily="18" charset="0"/>
              </a:rPr>
              <a:t>Future work will involve collecting data from multiple centers to increase substantially and applying transfer learning or domain adaptation techniques to ensure that the XGBoost-SHAP model maintains performance across diverse populations. </a:t>
            </a:r>
          </a:p>
          <a:p>
            <a:pPr algn="just">
              <a:lnSpc>
                <a:spcPct val="150000"/>
              </a:lnSpc>
            </a:pPr>
            <a:r>
              <a:rPr lang="en-GB" sz="2000" dirty="0" smtClean="0">
                <a:latin typeface="Times New Roman" pitchFamily="18" charset="0"/>
                <a:cs typeface="Times New Roman" pitchFamily="18" charset="0"/>
              </a:rPr>
              <a:t>Additionally, reliance on self-reported DDS17 scores may introduce reporting bias and might further influence distress but were not captured. </a:t>
            </a:r>
          </a:p>
          <a:p>
            <a:pPr algn="just">
              <a:lnSpc>
                <a:spcPct val="150000"/>
              </a:lnSpc>
            </a:pPr>
            <a:r>
              <a:rPr lang="en-GB" sz="2000" dirty="0" smtClean="0">
                <a:latin typeface="Times New Roman" pitchFamily="18" charset="0"/>
                <a:cs typeface="Times New Roman" pitchFamily="18" charset="0"/>
              </a:rPr>
              <a:t>It recommends external validation on larger, multi center datasets to assess model generalizability across diverse populations and integration of longitudinal data to develop time-series models for predicting distress.</a:t>
            </a:r>
            <a:endParaRPr lang="en-US" sz="2000"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95400" y="2514600"/>
            <a:ext cx="7421880" cy="1051560"/>
          </a:xfrm>
        </p:spPr>
        <p:txBody>
          <a:bodyPr>
            <a:normAutofit/>
          </a:bodyPr>
          <a:lstStyle/>
          <a:p>
            <a:pPr algn="ctr"/>
            <a:r>
              <a:rPr lang="en-US" sz="3500" b="1" dirty="0" smtClean="0">
                <a:solidFill>
                  <a:schemeClr val="tx1"/>
                </a:solidFill>
                <a:effectLst/>
                <a:latin typeface="Times New Roman" pitchFamily="18" charset="0"/>
                <a:cs typeface="Times New Roman" pitchFamily="18" charset="0"/>
              </a:rPr>
              <a:t>THANK YOU</a:t>
            </a:r>
            <a:endParaRPr lang="en-US" sz="3500" b="1" dirty="0">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1247</TotalTime>
  <Words>1408</Words>
  <Application>Microsoft Office PowerPoint</Application>
  <PresentationFormat>On-screen Show (4:3)</PresentationFormat>
  <Paragraphs>124</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Solstice</vt:lpstr>
      <vt:lpstr>PREDICTING DIABETIC DISTRESS AND EMOTIONAL BURDEN IN TYPE-2 DIABETES</vt:lpstr>
      <vt:lpstr>ABSTRACT</vt:lpstr>
      <vt:lpstr>INTRODUCTION</vt:lpstr>
      <vt:lpstr>EXISTING SYSTEM </vt:lpstr>
      <vt:lpstr>DISADVANTAGES </vt:lpstr>
      <vt:lpstr>PROPOSED SYSTEM </vt:lpstr>
      <vt:lpstr>ADVANTAGES </vt:lpstr>
      <vt:lpstr>SOFTWARE SPECIFICATION</vt:lpstr>
      <vt:lpstr>Slide 9</vt:lpstr>
      <vt:lpstr>MODULES</vt:lpstr>
      <vt:lpstr>DATASET COLLECTION MODULE</vt:lpstr>
      <vt:lpstr>EXPLORATORY DATA ANALYSIS (EDA) MODULE</vt:lpstr>
      <vt:lpstr>DATA PREPROCESSING MODULE</vt:lpstr>
      <vt:lpstr>FEATURE ENGINEERING MODULE</vt:lpstr>
      <vt:lpstr>MODEL DEVELOPMENT MODULE</vt:lpstr>
      <vt:lpstr>EXPLAINABLE AI (XAI) RESULT PREDICTION MODULE</vt:lpstr>
      <vt:lpstr>FEASIBILITY STUDY</vt:lpstr>
      <vt:lpstr>SYSTEM ARCHITECTURE</vt:lpstr>
      <vt:lpstr>DATAFLOW DIAGRAM</vt:lpstr>
      <vt:lpstr>SCREEN SHOTS</vt:lpstr>
      <vt:lpstr>Run Flask Server CMD</vt:lpstr>
      <vt:lpstr>View Web Host Link</vt:lpstr>
      <vt:lpstr>Main Page </vt:lpstr>
      <vt:lpstr>Type Stress Prediction</vt:lpstr>
      <vt:lpstr>Doctor Login</vt:lpstr>
      <vt:lpstr>Dashboard Page</vt:lpstr>
      <vt:lpstr>EDA Analysis</vt:lpstr>
      <vt:lpstr>Diabetic Distress Prediction</vt:lpstr>
      <vt:lpstr>Result Prediction</vt:lpstr>
      <vt:lpstr>CONCLUSION</vt:lpstr>
      <vt:lpstr>FUTURE WORK</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SCALABLE AND RELIABLE MATCHING SERVICE FOR CONTENT-BASED PUBLISH/SUBSCRIBE SYSTEMS</dc:title>
  <dc:creator>Thangam</dc:creator>
  <cp:lastModifiedBy>Admin</cp:lastModifiedBy>
  <cp:revision>578</cp:revision>
  <dcterms:created xsi:type="dcterms:W3CDTF">2006-08-16T00:00:00Z</dcterms:created>
  <dcterms:modified xsi:type="dcterms:W3CDTF">2026-04-24T10:56:25Z</dcterms:modified>
</cp:coreProperties>
</file>